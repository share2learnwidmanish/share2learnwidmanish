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4" r:id="rId5"/>
    <p:sldId id="266" r:id="rId6"/>
    <p:sldId id="267" r:id="rId7"/>
    <p:sldId id="268" r:id="rId8"/>
    <p:sldId id="257" r:id="rId9"/>
    <p:sldId id="261" r:id="rId10"/>
    <p:sldId id="258" r:id="rId11"/>
    <p:sldId id="260" r:id="rId12"/>
    <p:sldId id="263"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p:scale>
          <a:sx n="66" d="100"/>
          <a:sy n="66" d="100"/>
        </p:scale>
        <p:origin x="2136" y="10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39A3A321-2899-49C3-95E5-D212C1E5486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32B0BCE-4F91-4747-ADEE-FF4CB51D0EE8}">
      <dgm:prSet/>
      <dgm:spPr/>
      <dgm:t>
        <a:bodyPr/>
        <a:lstStyle/>
        <a:p>
          <a:r>
            <a:rPr lang="en-US"/>
            <a:t>This session addresses the critical challenge of moving GenAI from a vision to a reliable application within complex product verification processes. </a:t>
          </a:r>
        </a:p>
      </dgm:t>
    </dgm:pt>
    <dgm:pt modelId="{1836CD98-43FC-4CCD-8960-041DF32F388C}" type="parTrans" cxnId="{F4C1238D-AD01-40CD-A09C-C36EA203A4E1}">
      <dgm:prSet/>
      <dgm:spPr/>
      <dgm:t>
        <a:bodyPr/>
        <a:lstStyle/>
        <a:p>
          <a:endParaRPr lang="en-US"/>
        </a:p>
      </dgm:t>
    </dgm:pt>
    <dgm:pt modelId="{9C5A948C-F355-4C44-BA7F-BE82185EB88D}" type="sibTrans" cxnId="{F4C1238D-AD01-40CD-A09C-C36EA203A4E1}">
      <dgm:prSet/>
      <dgm:spPr/>
      <dgm:t>
        <a:bodyPr/>
        <a:lstStyle/>
        <a:p>
          <a:endParaRPr lang="en-US"/>
        </a:p>
      </dgm:t>
    </dgm:pt>
    <dgm:pt modelId="{808BD559-0BAA-45A1-BCCC-34B806DF0DA8}">
      <dgm:prSet/>
      <dgm:spPr/>
      <dgm:t>
        <a:bodyPr/>
        <a:lstStyle/>
        <a:p>
          <a:r>
            <a:rPr lang="en-US"/>
            <a:t>Will showcase limitations of cloud hosted GenAI solution for enterprises and  how Retrieval-Augmented Generation (RAG) architecture can securely leverage proprietary data (e.g., test reports, specs) to accelerate product validation and adoption with customers. </a:t>
          </a:r>
        </a:p>
      </dgm:t>
    </dgm:pt>
    <dgm:pt modelId="{93673412-1786-42F5-8DBF-6E1C96A75C9A}" type="parTrans" cxnId="{1979B0E9-D449-4C4D-AD8E-7B6AE2FE3283}">
      <dgm:prSet/>
      <dgm:spPr/>
      <dgm:t>
        <a:bodyPr/>
        <a:lstStyle/>
        <a:p>
          <a:endParaRPr lang="en-US"/>
        </a:p>
      </dgm:t>
    </dgm:pt>
    <dgm:pt modelId="{B7496363-CD7A-4700-B5D1-E5F75D6A8FE1}" type="sibTrans" cxnId="{1979B0E9-D449-4C4D-AD8E-7B6AE2FE3283}">
      <dgm:prSet/>
      <dgm:spPr/>
      <dgm:t>
        <a:bodyPr/>
        <a:lstStyle/>
        <a:p>
          <a:endParaRPr lang="en-US"/>
        </a:p>
      </dgm:t>
    </dgm:pt>
    <dgm:pt modelId="{97B50343-7E78-4C12-BE1B-985187B9B24A}">
      <dgm:prSet/>
      <dgm:spPr/>
      <dgm:t>
        <a:bodyPr/>
        <a:lstStyle/>
        <a:p>
          <a:r>
            <a:rPr lang="en-US"/>
            <a:t>The focus is on the Human role as a Prompt Engineer, building a repository of Golden Prompts to make GenAI based automation repeatable. </a:t>
          </a:r>
        </a:p>
      </dgm:t>
    </dgm:pt>
    <dgm:pt modelId="{D55ED9C9-8B48-45DD-96C9-548AB373BA0B}" type="parTrans" cxnId="{4C8FEC0D-F351-44A7-A95B-61DD3DB9514F}">
      <dgm:prSet/>
      <dgm:spPr/>
      <dgm:t>
        <a:bodyPr/>
        <a:lstStyle/>
        <a:p>
          <a:endParaRPr lang="en-US"/>
        </a:p>
      </dgm:t>
    </dgm:pt>
    <dgm:pt modelId="{EDEC45C4-61CE-4F55-870F-4B009691AA1C}" type="sibTrans" cxnId="{4C8FEC0D-F351-44A7-A95B-61DD3DB9514F}">
      <dgm:prSet/>
      <dgm:spPr/>
      <dgm:t>
        <a:bodyPr/>
        <a:lstStyle/>
        <a:p>
          <a:endParaRPr lang="en-US"/>
        </a:p>
      </dgm:t>
    </dgm:pt>
    <dgm:pt modelId="{F153475E-5510-43D6-A685-D32F529135E5}">
      <dgm:prSet/>
      <dgm:spPr/>
      <dgm:t>
        <a:bodyPr/>
        <a:lstStyle/>
        <a:p>
          <a:r>
            <a:rPr lang="en-US"/>
            <a:t>Identify few use cases in product development( User Story, test plan) ,delivery and how GenAI can enable operational efficiency and its limitations.</a:t>
          </a:r>
        </a:p>
      </dgm:t>
    </dgm:pt>
    <dgm:pt modelId="{2D37FBEC-8D4A-4798-877A-89C16981C587}" type="parTrans" cxnId="{7AFD23B3-67FE-43F1-9553-79D808D2FCCE}">
      <dgm:prSet/>
      <dgm:spPr/>
      <dgm:t>
        <a:bodyPr/>
        <a:lstStyle/>
        <a:p>
          <a:endParaRPr lang="en-US"/>
        </a:p>
      </dgm:t>
    </dgm:pt>
    <dgm:pt modelId="{D366D8FA-1002-4F78-B14D-C488A84C9629}" type="sibTrans" cxnId="{7AFD23B3-67FE-43F1-9553-79D808D2FCCE}">
      <dgm:prSet/>
      <dgm:spPr/>
      <dgm:t>
        <a:bodyPr/>
        <a:lstStyle/>
        <a:p>
          <a:endParaRPr lang="en-US"/>
        </a:p>
      </dgm:t>
    </dgm:pt>
    <dgm:pt modelId="{AA6F1818-3702-4BB0-96C8-161847A0F369}" type="pres">
      <dgm:prSet presAssocID="{39A3A321-2899-49C3-95E5-D212C1E5486B}" presName="root" presStyleCnt="0">
        <dgm:presLayoutVars>
          <dgm:dir/>
          <dgm:resizeHandles val="exact"/>
        </dgm:presLayoutVars>
      </dgm:prSet>
      <dgm:spPr/>
    </dgm:pt>
    <dgm:pt modelId="{48B7ACE3-C876-4ACC-950E-CB6C51E95C7E}" type="pres">
      <dgm:prSet presAssocID="{A32B0BCE-4F91-4747-ADEE-FF4CB51D0EE8}" presName="compNode" presStyleCnt="0"/>
      <dgm:spPr/>
    </dgm:pt>
    <dgm:pt modelId="{3AF207E9-59B6-4BD0-8AD5-449B07564E8D}" type="pres">
      <dgm:prSet presAssocID="{A32B0BCE-4F91-4747-ADEE-FF4CB51D0EE8}" presName="bgRect" presStyleLbl="bgShp" presStyleIdx="0" presStyleCnt="4"/>
      <dgm:spPr/>
    </dgm:pt>
    <dgm:pt modelId="{85A6830B-EB98-49AA-A863-D647E57972E4}" type="pres">
      <dgm:prSet presAssocID="{A32B0BCE-4F91-4747-ADEE-FF4CB51D0EE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BAC303B-7C86-4F93-882B-2A0993F94C87}" type="pres">
      <dgm:prSet presAssocID="{A32B0BCE-4F91-4747-ADEE-FF4CB51D0EE8}" presName="spaceRect" presStyleCnt="0"/>
      <dgm:spPr/>
    </dgm:pt>
    <dgm:pt modelId="{1A0CFB59-4EB9-4DAF-A95D-BDA17B458DAF}" type="pres">
      <dgm:prSet presAssocID="{A32B0BCE-4F91-4747-ADEE-FF4CB51D0EE8}" presName="parTx" presStyleLbl="revTx" presStyleIdx="0" presStyleCnt="4">
        <dgm:presLayoutVars>
          <dgm:chMax val="0"/>
          <dgm:chPref val="0"/>
        </dgm:presLayoutVars>
      </dgm:prSet>
      <dgm:spPr/>
    </dgm:pt>
    <dgm:pt modelId="{8520BAFB-9B78-44F5-AAF7-838199DA4408}" type="pres">
      <dgm:prSet presAssocID="{9C5A948C-F355-4C44-BA7F-BE82185EB88D}" presName="sibTrans" presStyleCnt="0"/>
      <dgm:spPr/>
    </dgm:pt>
    <dgm:pt modelId="{2FAEB07D-AF30-480B-BFB6-D37D58A26ADF}" type="pres">
      <dgm:prSet presAssocID="{808BD559-0BAA-45A1-BCCC-34B806DF0DA8}" presName="compNode" presStyleCnt="0"/>
      <dgm:spPr/>
    </dgm:pt>
    <dgm:pt modelId="{81D1AB51-D3AC-4E9A-93B3-C7C5152B7D7B}" type="pres">
      <dgm:prSet presAssocID="{808BD559-0BAA-45A1-BCCC-34B806DF0DA8}" presName="bgRect" presStyleLbl="bgShp" presStyleIdx="1" presStyleCnt="4"/>
      <dgm:spPr/>
    </dgm:pt>
    <dgm:pt modelId="{0D5AC15E-DC10-4FBA-9083-7C18214C416C}" type="pres">
      <dgm:prSet presAssocID="{808BD559-0BAA-45A1-BCCC-34B806DF0DA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175FD48A-BEC8-4B58-B7D4-24DBDA7030EE}" type="pres">
      <dgm:prSet presAssocID="{808BD559-0BAA-45A1-BCCC-34B806DF0DA8}" presName="spaceRect" presStyleCnt="0"/>
      <dgm:spPr/>
    </dgm:pt>
    <dgm:pt modelId="{B8C24C22-B92B-40B4-9B6A-7BAE758034AD}" type="pres">
      <dgm:prSet presAssocID="{808BD559-0BAA-45A1-BCCC-34B806DF0DA8}" presName="parTx" presStyleLbl="revTx" presStyleIdx="1" presStyleCnt="4">
        <dgm:presLayoutVars>
          <dgm:chMax val="0"/>
          <dgm:chPref val="0"/>
        </dgm:presLayoutVars>
      </dgm:prSet>
      <dgm:spPr/>
    </dgm:pt>
    <dgm:pt modelId="{3F029A05-1E97-40FB-9F8D-57F589730534}" type="pres">
      <dgm:prSet presAssocID="{B7496363-CD7A-4700-B5D1-E5F75D6A8FE1}" presName="sibTrans" presStyleCnt="0"/>
      <dgm:spPr/>
    </dgm:pt>
    <dgm:pt modelId="{ABD19E43-C6C5-4EDF-BAAC-1487E83789D5}" type="pres">
      <dgm:prSet presAssocID="{97B50343-7E78-4C12-BE1B-985187B9B24A}" presName="compNode" presStyleCnt="0"/>
      <dgm:spPr/>
    </dgm:pt>
    <dgm:pt modelId="{D7A86D50-31A4-41B9-92C0-E8024889AFB9}" type="pres">
      <dgm:prSet presAssocID="{97B50343-7E78-4C12-BE1B-985187B9B24A}" presName="bgRect" presStyleLbl="bgShp" presStyleIdx="2" presStyleCnt="4"/>
      <dgm:spPr/>
    </dgm:pt>
    <dgm:pt modelId="{6D0CC710-2311-4F24-9C01-42DB3340DF48}" type="pres">
      <dgm:prSet presAssocID="{97B50343-7E78-4C12-BE1B-985187B9B24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51D988D-5BBC-454A-9AC7-82F88498399F}" type="pres">
      <dgm:prSet presAssocID="{97B50343-7E78-4C12-BE1B-985187B9B24A}" presName="spaceRect" presStyleCnt="0"/>
      <dgm:spPr/>
    </dgm:pt>
    <dgm:pt modelId="{5F5804CD-047E-43D5-9317-C67616432366}" type="pres">
      <dgm:prSet presAssocID="{97B50343-7E78-4C12-BE1B-985187B9B24A}" presName="parTx" presStyleLbl="revTx" presStyleIdx="2" presStyleCnt="4">
        <dgm:presLayoutVars>
          <dgm:chMax val="0"/>
          <dgm:chPref val="0"/>
        </dgm:presLayoutVars>
      </dgm:prSet>
      <dgm:spPr/>
    </dgm:pt>
    <dgm:pt modelId="{6248DA3E-578A-4A93-875E-0A9F72774B99}" type="pres">
      <dgm:prSet presAssocID="{EDEC45C4-61CE-4F55-870F-4B009691AA1C}" presName="sibTrans" presStyleCnt="0"/>
      <dgm:spPr/>
    </dgm:pt>
    <dgm:pt modelId="{D9EF2E16-1847-48CB-9C5F-E46DB407BE95}" type="pres">
      <dgm:prSet presAssocID="{F153475E-5510-43D6-A685-D32F529135E5}" presName="compNode" presStyleCnt="0"/>
      <dgm:spPr/>
    </dgm:pt>
    <dgm:pt modelId="{649CE069-207A-4F6B-B646-2A982AE8AB01}" type="pres">
      <dgm:prSet presAssocID="{F153475E-5510-43D6-A685-D32F529135E5}" presName="bgRect" presStyleLbl="bgShp" presStyleIdx="3" presStyleCnt="4"/>
      <dgm:spPr/>
    </dgm:pt>
    <dgm:pt modelId="{C0ADA7C2-8C4F-4EAA-96F4-69E2FC7C7C8E}" type="pres">
      <dgm:prSet presAssocID="{F153475E-5510-43D6-A685-D32F529135E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rrow Circle"/>
        </a:ext>
      </dgm:extLst>
    </dgm:pt>
    <dgm:pt modelId="{F661FC1A-C74C-43AD-B780-4F0B2BAF222A}" type="pres">
      <dgm:prSet presAssocID="{F153475E-5510-43D6-A685-D32F529135E5}" presName="spaceRect" presStyleCnt="0"/>
      <dgm:spPr/>
    </dgm:pt>
    <dgm:pt modelId="{CF95EFEB-98C6-40A0-B4C3-0F8B4E0B1C7F}" type="pres">
      <dgm:prSet presAssocID="{F153475E-5510-43D6-A685-D32F529135E5}" presName="parTx" presStyleLbl="revTx" presStyleIdx="3" presStyleCnt="4">
        <dgm:presLayoutVars>
          <dgm:chMax val="0"/>
          <dgm:chPref val="0"/>
        </dgm:presLayoutVars>
      </dgm:prSet>
      <dgm:spPr/>
    </dgm:pt>
  </dgm:ptLst>
  <dgm:cxnLst>
    <dgm:cxn modelId="{4C8FEC0D-F351-44A7-A95B-61DD3DB9514F}" srcId="{39A3A321-2899-49C3-95E5-D212C1E5486B}" destId="{97B50343-7E78-4C12-BE1B-985187B9B24A}" srcOrd="2" destOrd="0" parTransId="{D55ED9C9-8B48-45DD-96C9-548AB373BA0B}" sibTransId="{EDEC45C4-61CE-4F55-870F-4B009691AA1C}"/>
    <dgm:cxn modelId="{393D7628-F4A0-4524-B359-37C54C2968B1}" type="presOf" srcId="{A32B0BCE-4F91-4747-ADEE-FF4CB51D0EE8}" destId="{1A0CFB59-4EB9-4DAF-A95D-BDA17B458DAF}" srcOrd="0" destOrd="0" presId="urn:microsoft.com/office/officeart/2018/2/layout/IconVerticalSolidList"/>
    <dgm:cxn modelId="{7EB0A55F-8753-4473-9F8D-A08670FB14ED}" type="presOf" srcId="{F153475E-5510-43D6-A685-D32F529135E5}" destId="{CF95EFEB-98C6-40A0-B4C3-0F8B4E0B1C7F}" srcOrd="0" destOrd="0" presId="urn:microsoft.com/office/officeart/2018/2/layout/IconVerticalSolidList"/>
    <dgm:cxn modelId="{F4C1238D-AD01-40CD-A09C-C36EA203A4E1}" srcId="{39A3A321-2899-49C3-95E5-D212C1E5486B}" destId="{A32B0BCE-4F91-4747-ADEE-FF4CB51D0EE8}" srcOrd="0" destOrd="0" parTransId="{1836CD98-43FC-4CCD-8960-041DF32F388C}" sibTransId="{9C5A948C-F355-4C44-BA7F-BE82185EB88D}"/>
    <dgm:cxn modelId="{2E805FA8-245E-4269-B0F1-0151D0D0DDAD}" type="presOf" srcId="{97B50343-7E78-4C12-BE1B-985187B9B24A}" destId="{5F5804CD-047E-43D5-9317-C67616432366}" srcOrd="0" destOrd="0" presId="urn:microsoft.com/office/officeart/2018/2/layout/IconVerticalSolidList"/>
    <dgm:cxn modelId="{47D676A9-9104-48B9-AC7E-E067F84F914C}" type="presOf" srcId="{808BD559-0BAA-45A1-BCCC-34B806DF0DA8}" destId="{B8C24C22-B92B-40B4-9B6A-7BAE758034AD}" srcOrd="0" destOrd="0" presId="urn:microsoft.com/office/officeart/2018/2/layout/IconVerticalSolidList"/>
    <dgm:cxn modelId="{7AFD23B3-67FE-43F1-9553-79D808D2FCCE}" srcId="{39A3A321-2899-49C3-95E5-D212C1E5486B}" destId="{F153475E-5510-43D6-A685-D32F529135E5}" srcOrd="3" destOrd="0" parTransId="{2D37FBEC-8D4A-4798-877A-89C16981C587}" sibTransId="{D366D8FA-1002-4F78-B14D-C488A84C9629}"/>
    <dgm:cxn modelId="{1979B0E9-D449-4C4D-AD8E-7B6AE2FE3283}" srcId="{39A3A321-2899-49C3-95E5-D212C1E5486B}" destId="{808BD559-0BAA-45A1-BCCC-34B806DF0DA8}" srcOrd="1" destOrd="0" parTransId="{93673412-1786-42F5-8DBF-6E1C96A75C9A}" sibTransId="{B7496363-CD7A-4700-B5D1-E5F75D6A8FE1}"/>
    <dgm:cxn modelId="{FAE3D2F4-B13C-49D9-A610-B572786FC0A6}" type="presOf" srcId="{39A3A321-2899-49C3-95E5-D212C1E5486B}" destId="{AA6F1818-3702-4BB0-96C8-161847A0F369}" srcOrd="0" destOrd="0" presId="urn:microsoft.com/office/officeart/2018/2/layout/IconVerticalSolidList"/>
    <dgm:cxn modelId="{CBD602A8-8C71-4E86-AF99-3FC45B5B5F2E}" type="presParOf" srcId="{AA6F1818-3702-4BB0-96C8-161847A0F369}" destId="{48B7ACE3-C876-4ACC-950E-CB6C51E95C7E}" srcOrd="0" destOrd="0" presId="urn:microsoft.com/office/officeart/2018/2/layout/IconVerticalSolidList"/>
    <dgm:cxn modelId="{93794364-E830-4DA7-844F-1052D416420C}" type="presParOf" srcId="{48B7ACE3-C876-4ACC-950E-CB6C51E95C7E}" destId="{3AF207E9-59B6-4BD0-8AD5-449B07564E8D}" srcOrd="0" destOrd="0" presId="urn:microsoft.com/office/officeart/2018/2/layout/IconVerticalSolidList"/>
    <dgm:cxn modelId="{45475132-BCC5-4C4F-8C1D-B32FC046FAC3}" type="presParOf" srcId="{48B7ACE3-C876-4ACC-950E-CB6C51E95C7E}" destId="{85A6830B-EB98-49AA-A863-D647E57972E4}" srcOrd="1" destOrd="0" presId="urn:microsoft.com/office/officeart/2018/2/layout/IconVerticalSolidList"/>
    <dgm:cxn modelId="{F188749E-675A-4E75-BAD5-E5826A19BAAB}" type="presParOf" srcId="{48B7ACE3-C876-4ACC-950E-CB6C51E95C7E}" destId="{5BAC303B-7C86-4F93-882B-2A0993F94C87}" srcOrd="2" destOrd="0" presId="urn:microsoft.com/office/officeart/2018/2/layout/IconVerticalSolidList"/>
    <dgm:cxn modelId="{A49FD835-1F7F-4363-9315-29CFD894E031}" type="presParOf" srcId="{48B7ACE3-C876-4ACC-950E-CB6C51E95C7E}" destId="{1A0CFB59-4EB9-4DAF-A95D-BDA17B458DAF}" srcOrd="3" destOrd="0" presId="urn:microsoft.com/office/officeart/2018/2/layout/IconVerticalSolidList"/>
    <dgm:cxn modelId="{5889063D-A2B5-4D70-85CE-983E8C016492}" type="presParOf" srcId="{AA6F1818-3702-4BB0-96C8-161847A0F369}" destId="{8520BAFB-9B78-44F5-AAF7-838199DA4408}" srcOrd="1" destOrd="0" presId="urn:microsoft.com/office/officeart/2018/2/layout/IconVerticalSolidList"/>
    <dgm:cxn modelId="{B7A2F4FA-C7F6-46CE-B5E5-EF58284B06CC}" type="presParOf" srcId="{AA6F1818-3702-4BB0-96C8-161847A0F369}" destId="{2FAEB07D-AF30-480B-BFB6-D37D58A26ADF}" srcOrd="2" destOrd="0" presId="urn:microsoft.com/office/officeart/2018/2/layout/IconVerticalSolidList"/>
    <dgm:cxn modelId="{CE7A594B-61E6-4A88-8C74-A0C120909B7C}" type="presParOf" srcId="{2FAEB07D-AF30-480B-BFB6-D37D58A26ADF}" destId="{81D1AB51-D3AC-4E9A-93B3-C7C5152B7D7B}" srcOrd="0" destOrd="0" presId="urn:microsoft.com/office/officeart/2018/2/layout/IconVerticalSolidList"/>
    <dgm:cxn modelId="{C00BB45E-9641-407F-83CF-088ADAB7A168}" type="presParOf" srcId="{2FAEB07D-AF30-480B-BFB6-D37D58A26ADF}" destId="{0D5AC15E-DC10-4FBA-9083-7C18214C416C}" srcOrd="1" destOrd="0" presId="urn:microsoft.com/office/officeart/2018/2/layout/IconVerticalSolidList"/>
    <dgm:cxn modelId="{1DDF72F3-0C4D-4BD3-8541-91804A0A0DA1}" type="presParOf" srcId="{2FAEB07D-AF30-480B-BFB6-D37D58A26ADF}" destId="{175FD48A-BEC8-4B58-B7D4-24DBDA7030EE}" srcOrd="2" destOrd="0" presId="urn:microsoft.com/office/officeart/2018/2/layout/IconVerticalSolidList"/>
    <dgm:cxn modelId="{04D877D4-EC2A-4624-98C9-FD4BA98AC75A}" type="presParOf" srcId="{2FAEB07D-AF30-480B-BFB6-D37D58A26ADF}" destId="{B8C24C22-B92B-40B4-9B6A-7BAE758034AD}" srcOrd="3" destOrd="0" presId="urn:microsoft.com/office/officeart/2018/2/layout/IconVerticalSolidList"/>
    <dgm:cxn modelId="{1F90D2CC-5275-4567-B47A-5617AC53C0CE}" type="presParOf" srcId="{AA6F1818-3702-4BB0-96C8-161847A0F369}" destId="{3F029A05-1E97-40FB-9F8D-57F589730534}" srcOrd="3" destOrd="0" presId="urn:microsoft.com/office/officeart/2018/2/layout/IconVerticalSolidList"/>
    <dgm:cxn modelId="{3E1FA344-20CC-43FD-A7BF-E507BCB65821}" type="presParOf" srcId="{AA6F1818-3702-4BB0-96C8-161847A0F369}" destId="{ABD19E43-C6C5-4EDF-BAAC-1487E83789D5}" srcOrd="4" destOrd="0" presId="urn:microsoft.com/office/officeart/2018/2/layout/IconVerticalSolidList"/>
    <dgm:cxn modelId="{F48F5173-7FF2-4851-92E7-03006DFA5DAF}" type="presParOf" srcId="{ABD19E43-C6C5-4EDF-BAAC-1487E83789D5}" destId="{D7A86D50-31A4-41B9-92C0-E8024889AFB9}" srcOrd="0" destOrd="0" presId="urn:microsoft.com/office/officeart/2018/2/layout/IconVerticalSolidList"/>
    <dgm:cxn modelId="{E80DA3A4-E2FF-4F87-9F3E-4BAAA172BC5E}" type="presParOf" srcId="{ABD19E43-C6C5-4EDF-BAAC-1487E83789D5}" destId="{6D0CC710-2311-4F24-9C01-42DB3340DF48}" srcOrd="1" destOrd="0" presId="urn:microsoft.com/office/officeart/2018/2/layout/IconVerticalSolidList"/>
    <dgm:cxn modelId="{930BBB27-BAB6-4415-844B-2092140910B9}" type="presParOf" srcId="{ABD19E43-C6C5-4EDF-BAAC-1487E83789D5}" destId="{451D988D-5BBC-454A-9AC7-82F88498399F}" srcOrd="2" destOrd="0" presId="urn:microsoft.com/office/officeart/2018/2/layout/IconVerticalSolidList"/>
    <dgm:cxn modelId="{D7111F15-B849-4D88-B82B-621143BF60F7}" type="presParOf" srcId="{ABD19E43-C6C5-4EDF-BAAC-1487E83789D5}" destId="{5F5804CD-047E-43D5-9317-C67616432366}" srcOrd="3" destOrd="0" presId="urn:microsoft.com/office/officeart/2018/2/layout/IconVerticalSolidList"/>
    <dgm:cxn modelId="{AE122D75-ECD9-4A3F-9243-D66A922ED2B3}" type="presParOf" srcId="{AA6F1818-3702-4BB0-96C8-161847A0F369}" destId="{6248DA3E-578A-4A93-875E-0A9F72774B99}" srcOrd="5" destOrd="0" presId="urn:microsoft.com/office/officeart/2018/2/layout/IconVerticalSolidList"/>
    <dgm:cxn modelId="{CD230E35-86A1-412C-9079-206454689655}" type="presParOf" srcId="{AA6F1818-3702-4BB0-96C8-161847A0F369}" destId="{D9EF2E16-1847-48CB-9C5F-E46DB407BE95}" srcOrd="6" destOrd="0" presId="urn:microsoft.com/office/officeart/2018/2/layout/IconVerticalSolidList"/>
    <dgm:cxn modelId="{BFA853BF-EFA4-4E06-92D1-72D878A69FBE}" type="presParOf" srcId="{D9EF2E16-1847-48CB-9C5F-E46DB407BE95}" destId="{649CE069-207A-4F6B-B646-2A982AE8AB01}" srcOrd="0" destOrd="0" presId="urn:microsoft.com/office/officeart/2018/2/layout/IconVerticalSolidList"/>
    <dgm:cxn modelId="{1EA565A2-54AF-41E9-85D2-6D843D02ABE2}" type="presParOf" srcId="{D9EF2E16-1847-48CB-9C5F-E46DB407BE95}" destId="{C0ADA7C2-8C4F-4EAA-96F4-69E2FC7C7C8E}" srcOrd="1" destOrd="0" presId="urn:microsoft.com/office/officeart/2018/2/layout/IconVerticalSolidList"/>
    <dgm:cxn modelId="{0BBB102B-F008-4346-9466-75AD81FAE5E9}" type="presParOf" srcId="{D9EF2E16-1847-48CB-9C5F-E46DB407BE95}" destId="{F661FC1A-C74C-43AD-B780-4F0B2BAF222A}" srcOrd="2" destOrd="0" presId="urn:microsoft.com/office/officeart/2018/2/layout/IconVerticalSolidList"/>
    <dgm:cxn modelId="{77F78ED0-A60A-44AA-ABFA-6195B2519080}" type="presParOf" srcId="{D9EF2E16-1847-48CB-9C5F-E46DB407BE95}" destId="{CF95EFEB-98C6-40A0-B4C3-0F8B4E0B1C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F207E9-59B6-4BD0-8AD5-449B07564E8D}">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A6830B-EB98-49AA-A863-D647E57972E4}">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0CFB59-4EB9-4DAF-A95D-BDA17B458DAF}">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This session addresses the critical challenge of moving GenAI from a vision to a reliable application within complex product verification processes. </a:t>
          </a:r>
        </a:p>
      </dsp:txBody>
      <dsp:txXfrm>
        <a:off x="1058686" y="1808"/>
        <a:ext cx="9456913" cy="916611"/>
      </dsp:txXfrm>
    </dsp:sp>
    <dsp:sp modelId="{81D1AB51-D3AC-4E9A-93B3-C7C5152B7D7B}">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5AC15E-DC10-4FBA-9083-7C18214C416C}">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C24C22-B92B-40B4-9B6A-7BAE758034AD}">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Will showcase limitations of cloud hosted GenAI solution for enterprises and  how Retrieval-Augmented Generation (RAG) architecture can securely leverage proprietary data (e.g., test reports, specs) to accelerate product validation and adoption with customers. </a:t>
          </a:r>
        </a:p>
      </dsp:txBody>
      <dsp:txXfrm>
        <a:off x="1058686" y="1147573"/>
        <a:ext cx="9456913" cy="916611"/>
      </dsp:txXfrm>
    </dsp:sp>
    <dsp:sp modelId="{D7A86D50-31A4-41B9-92C0-E8024889AFB9}">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0CC710-2311-4F24-9C01-42DB3340DF48}">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5804CD-047E-43D5-9317-C67616432366}">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The focus is on the Human role as a Prompt Engineer, building a repository of Golden Prompts to make GenAI based automation repeatable. </a:t>
          </a:r>
        </a:p>
      </dsp:txBody>
      <dsp:txXfrm>
        <a:off x="1058686" y="2293338"/>
        <a:ext cx="9456913" cy="916611"/>
      </dsp:txXfrm>
    </dsp:sp>
    <dsp:sp modelId="{649CE069-207A-4F6B-B646-2A982AE8AB01}">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ADA7C2-8C4F-4EAA-96F4-69E2FC7C7C8E}">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95EFEB-98C6-40A0-B4C3-0F8B4E0B1C7F}">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Identify few use cases in product development( User Story, test plan) ,delivery and how GenAI can enable operational efficiency and its limitations.</a:t>
          </a:r>
        </a:p>
      </dsp:txBody>
      <dsp:txXfrm>
        <a:off x="1058686" y="3439103"/>
        <a:ext cx="9456913" cy="9166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7DC06-879D-4E37-8D04-5769144C92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62FA01-07D3-47FC-BEAC-8F0001F68F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93739B-9BD1-48F0-84FE-E791277093FD}"/>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5" name="Footer Placeholder 4">
            <a:extLst>
              <a:ext uri="{FF2B5EF4-FFF2-40B4-BE49-F238E27FC236}">
                <a16:creationId xmlns:a16="http://schemas.microsoft.com/office/drawing/2014/main" id="{6804BC51-3841-4691-BE85-2ACCBAE3D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E12633-9031-486A-9EEA-13A587D3FEA3}"/>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45947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4215-4C7E-45C2-9855-3F0D42120C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F6DF5F-96A2-4F57-AD9A-A59FDA4B39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1E1685-A5D5-432F-9D2C-7451AD9C052E}"/>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5" name="Footer Placeholder 4">
            <a:extLst>
              <a:ext uri="{FF2B5EF4-FFF2-40B4-BE49-F238E27FC236}">
                <a16:creationId xmlns:a16="http://schemas.microsoft.com/office/drawing/2014/main" id="{4DAE68CA-B48D-4B73-BC88-26DE719002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0B7D2-6388-4FB7-B9F6-46B4AE94B2C0}"/>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596323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F27F9-6713-4225-B49A-FCFA488BBE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EB5FF0-3EA4-4651-971F-5B75BA04B9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0A6B77-0773-480D-9F7A-A5E475AE05B3}"/>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5" name="Footer Placeholder 4">
            <a:extLst>
              <a:ext uri="{FF2B5EF4-FFF2-40B4-BE49-F238E27FC236}">
                <a16:creationId xmlns:a16="http://schemas.microsoft.com/office/drawing/2014/main" id="{C60D89F8-F7F1-42C2-845B-1FDC4BC62D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40F351-630B-4615-A78D-2152C00867B3}"/>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89757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A263E-715D-4766-9E10-7CA8E5657A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047498-37D3-4AD0-90E7-6CD5AE26DE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9C708A-4EC5-47CC-B2F1-5F2A16D90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6B07BC-B9F6-4998-9CBE-3D243A76662E}"/>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6" name="Footer Placeholder 5">
            <a:extLst>
              <a:ext uri="{FF2B5EF4-FFF2-40B4-BE49-F238E27FC236}">
                <a16:creationId xmlns:a16="http://schemas.microsoft.com/office/drawing/2014/main" id="{1D06E501-1162-4CF5-8004-B49387DA8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573CE5-9B1D-4429-B6E6-AAFCBDFF58DB}"/>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969697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BCA68-D7C8-418F-9414-D8A340D775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9864C7-2E8A-48CB-A274-C082B7E15A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CFE4FE-4168-429D-A4E7-C2994ED4F3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246DE5-4A0B-4CA8-A598-637E1D2CA8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04E899-F310-46BC-A65E-5B8A05DCCE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A80CB6-B519-4852-BD10-B32E473E3192}"/>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8" name="Footer Placeholder 7">
            <a:extLst>
              <a:ext uri="{FF2B5EF4-FFF2-40B4-BE49-F238E27FC236}">
                <a16:creationId xmlns:a16="http://schemas.microsoft.com/office/drawing/2014/main" id="{E5481154-F9C5-4AE1-A6AC-00B6CA4E1A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BC4AE4-9774-4D6D-A611-A8576A852E3A}"/>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38862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7FE73-EB2D-404D-BF60-8FF3C0CC26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D15E70-EB04-4F67-B44C-411BE7253C3E}"/>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4" name="Footer Placeholder 3">
            <a:extLst>
              <a:ext uri="{FF2B5EF4-FFF2-40B4-BE49-F238E27FC236}">
                <a16:creationId xmlns:a16="http://schemas.microsoft.com/office/drawing/2014/main" id="{7DCF8975-86FB-4DFF-B432-2F80C9211D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E6683-E83F-4456-97FC-388E90E4BA2B}"/>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99272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E23A9B-0595-490C-840E-8ACAAA1C5D69}"/>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3" name="Footer Placeholder 2">
            <a:extLst>
              <a:ext uri="{FF2B5EF4-FFF2-40B4-BE49-F238E27FC236}">
                <a16:creationId xmlns:a16="http://schemas.microsoft.com/office/drawing/2014/main" id="{436A8876-F2F7-4CAE-945B-853A663C1A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A12EE5-3DCE-4151-A7B1-7ED9D21ABAA9}"/>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213432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35BE-175A-41F9-975C-0AB0C2151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D54A3B-E900-4D20-8E82-FBB98B4292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061F06-3BA3-4017-985C-D6C42B61C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3EF02-E5C9-4BCC-9CCA-DF4616B62A3F}"/>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6" name="Footer Placeholder 5">
            <a:extLst>
              <a:ext uri="{FF2B5EF4-FFF2-40B4-BE49-F238E27FC236}">
                <a16:creationId xmlns:a16="http://schemas.microsoft.com/office/drawing/2014/main" id="{021380AA-30CA-4958-BA9C-15498A83CE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102D8D-2E35-4628-83B8-E82A2008C1AC}"/>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3425711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93DB7-B809-49C9-BDEA-4C55BA90B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02741F-8EFC-4969-AF9F-16FE0BBA85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164F89-C215-4B2A-AF6E-0E3A001D8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07D777-9E8D-48C9-A250-BFBD97B66E0D}"/>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6" name="Footer Placeholder 5">
            <a:extLst>
              <a:ext uri="{FF2B5EF4-FFF2-40B4-BE49-F238E27FC236}">
                <a16:creationId xmlns:a16="http://schemas.microsoft.com/office/drawing/2014/main" id="{BFC3C97F-271E-4FE7-9BDF-71DDA1D5FD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F375F3-974F-4E82-90B2-18530A7402F0}"/>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210586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A5D5A-2962-471A-B998-455BE319DE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97EAB6-85AC-41D2-934B-40669AC319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E5B0F4-DD9B-40B3-96DA-7BB0D94BBC2C}"/>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5" name="Footer Placeholder 4">
            <a:extLst>
              <a:ext uri="{FF2B5EF4-FFF2-40B4-BE49-F238E27FC236}">
                <a16:creationId xmlns:a16="http://schemas.microsoft.com/office/drawing/2014/main" id="{D67962CA-6FF8-47C9-B625-510E45E72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E71540-5CF3-4519-A93C-D5C09C38F239}"/>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454814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F0955C-1D0A-4846-89DD-524713756E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8317F2-F4C1-4CDC-9E73-7C634E613F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B38E00-5C7E-452A-8651-D46B1E1ED0CA}"/>
              </a:ext>
            </a:extLst>
          </p:cNvPr>
          <p:cNvSpPr>
            <a:spLocks noGrp="1"/>
          </p:cNvSpPr>
          <p:nvPr>
            <p:ph type="dt" sz="half" idx="10"/>
          </p:nvPr>
        </p:nvSpPr>
        <p:spPr/>
        <p:txBody>
          <a:bodyPr/>
          <a:lstStyle/>
          <a:p>
            <a:fld id="{2065F0E9-6A60-41BC-BBD4-0065B26BC60E}" type="datetimeFigureOut">
              <a:rPr lang="en-US" smtClean="0"/>
              <a:t>1/5/2026</a:t>
            </a:fld>
            <a:endParaRPr lang="en-US"/>
          </a:p>
        </p:txBody>
      </p:sp>
      <p:sp>
        <p:nvSpPr>
          <p:cNvPr id="5" name="Footer Placeholder 4">
            <a:extLst>
              <a:ext uri="{FF2B5EF4-FFF2-40B4-BE49-F238E27FC236}">
                <a16:creationId xmlns:a16="http://schemas.microsoft.com/office/drawing/2014/main" id="{45B5CC80-8E91-49B7-9A23-CA4C63A74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0CC509-FF9F-48C1-9161-708298A476E1}"/>
              </a:ext>
            </a:extLst>
          </p:cNvPr>
          <p:cNvSpPr>
            <a:spLocks noGrp="1"/>
          </p:cNvSpPr>
          <p:nvPr>
            <p:ph type="sldNum" sz="quarter" idx="12"/>
          </p:nvPr>
        </p:nvSpPr>
        <p:spPr/>
        <p:txBody>
          <a:bodyPr/>
          <a:lstStyle/>
          <a:p>
            <a:fld id="{922FD97A-C06D-45F2-A421-E45D6B1D170F}" type="slidenum">
              <a:rPr lang="en-US" smtClean="0"/>
              <a:t>‹#›</a:t>
            </a:fld>
            <a:endParaRPr lang="en-US"/>
          </a:p>
        </p:txBody>
      </p:sp>
    </p:spTree>
    <p:extLst>
      <p:ext uri="{BB962C8B-B14F-4D97-AF65-F5344CB8AC3E}">
        <p14:creationId xmlns:p14="http://schemas.microsoft.com/office/powerpoint/2010/main" val="2083514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9FE230-BCEE-4D84-A176-48ADB7E59B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751EB6-9F97-456A-A94C-6F2FFB728B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E6B99-31ED-4EEF-A440-B0E51BCBDC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65F0E9-6A60-41BC-BBD4-0065B26BC60E}" type="datetimeFigureOut">
              <a:rPr lang="en-US" smtClean="0"/>
              <a:t>1/5/2026</a:t>
            </a:fld>
            <a:endParaRPr lang="en-US"/>
          </a:p>
        </p:txBody>
      </p:sp>
      <p:sp>
        <p:nvSpPr>
          <p:cNvPr id="5" name="Footer Placeholder 4">
            <a:extLst>
              <a:ext uri="{FF2B5EF4-FFF2-40B4-BE49-F238E27FC236}">
                <a16:creationId xmlns:a16="http://schemas.microsoft.com/office/drawing/2014/main" id="{E9985B99-6785-4970-9B40-BD42B09B50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FB3CFD-7DEC-4FF9-9820-3209CBAA6D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2FD97A-C06D-45F2-A421-E45D6B1D170F}" type="slidenum">
              <a:rPr lang="en-US" smtClean="0"/>
              <a:t>‹#›</a:t>
            </a:fld>
            <a:endParaRPr lang="en-US"/>
          </a:p>
        </p:txBody>
      </p:sp>
    </p:spTree>
    <p:extLst>
      <p:ext uri="{BB962C8B-B14F-4D97-AF65-F5344CB8AC3E}">
        <p14:creationId xmlns:p14="http://schemas.microsoft.com/office/powerpoint/2010/main" val="3430063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jpe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D29E08-4BE7-BADB-EC61-73C297522CB3}"/>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Proposal </a:t>
            </a:r>
            <a:br>
              <a:rPr lang="en-US" sz="4800">
                <a:solidFill>
                  <a:srgbClr val="FFFFFF"/>
                </a:solidFill>
              </a:rPr>
            </a:br>
            <a:r>
              <a:rPr lang="en-US" sz="4800">
                <a:solidFill>
                  <a:srgbClr val="FFFFFF"/>
                </a:solidFill>
              </a:rPr>
              <a:t>Speaker – Agile Networks India </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7BE9413-FD17-9F51-C2A1-8553D9878133}"/>
              </a:ext>
            </a:extLst>
          </p:cNvPr>
          <p:cNvSpPr>
            <a:spLocks noGrp="1"/>
          </p:cNvSpPr>
          <p:nvPr>
            <p:ph type="subTitle" idx="1"/>
          </p:nvPr>
        </p:nvSpPr>
        <p:spPr>
          <a:xfrm>
            <a:off x="1931874" y="4797188"/>
            <a:ext cx="6051236" cy="1241828"/>
          </a:xfrm>
        </p:spPr>
        <p:txBody>
          <a:bodyPr>
            <a:normAutofit/>
          </a:bodyPr>
          <a:lstStyle/>
          <a:p>
            <a:pPr algn="r"/>
            <a:r>
              <a:rPr lang="en-US" dirty="0">
                <a:solidFill>
                  <a:srgbClr val="FFFFFF"/>
                </a:solidFill>
              </a:rPr>
              <a:t>Topic: </a:t>
            </a:r>
            <a:r>
              <a:rPr lang="en-US" dirty="0">
                <a:solidFill>
                  <a:schemeClr val="bg1"/>
                </a:solidFill>
              </a:rPr>
              <a:t>Human + AI: From Vision to Application</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948EE95-1417-9711-10E8-9CFB74B44FCC}"/>
              </a:ext>
            </a:extLst>
          </p:cNvPr>
          <p:cNvSpPr/>
          <p:nvPr/>
        </p:nvSpPr>
        <p:spPr>
          <a:xfrm rot="20080866">
            <a:off x="-369169" y="471434"/>
            <a:ext cx="4354285" cy="1754326"/>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WORK IN PROGRESS </a:t>
            </a:r>
          </a:p>
        </p:txBody>
      </p:sp>
    </p:spTree>
    <p:extLst>
      <p:ext uri="{BB962C8B-B14F-4D97-AF65-F5344CB8AC3E}">
        <p14:creationId xmlns:p14="http://schemas.microsoft.com/office/powerpoint/2010/main" val="3041669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0520AB-00A2-55E5-AB22-7DEBD91B853E}"/>
              </a:ext>
            </a:extLst>
          </p:cNvPr>
          <p:cNvSpPr>
            <a:spLocks noGrp="1"/>
          </p:cNvSpPr>
          <p:nvPr>
            <p:ph type="title"/>
          </p:nvPr>
        </p:nvSpPr>
        <p:spPr>
          <a:xfrm>
            <a:off x="841248" y="256032"/>
            <a:ext cx="10506456" cy="1014984"/>
          </a:xfrm>
        </p:spPr>
        <p:txBody>
          <a:bodyPr anchor="b">
            <a:normAutofit/>
          </a:bodyPr>
          <a:lstStyle/>
          <a:p>
            <a:br>
              <a:rPr lang="en-US" sz="2100" dirty="0"/>
            </a:br>
            <a:r>
              <a:rPr lang="en-US" sz="2100" b="1" dirty="0">
                <a:solidFill>
                  <a:schemeClr val="accent1"/>
                </a:solidFill>
              </a:rPr>
              <a:t>The AI-Augmented Product Delivery Loop: Using Prompt Engineering &amp; RAG for Accelerated Dev and Delivery</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4DF8904-60CF-6614-EED0-1D3BF308E8CD}"/>
              </a:ext>
            </a:extLst>
          </p:cNvPr>
          <p:cNvGraphicFramePr>
            <a:graphicFrameLocks noGrp="1"/>
          </p:cNvGraphicFramePr>
          <p:nvPr>
            <p:ph idx="1"/>
            <p:extLst>
              <p:ext uri="{D42A27DB-BD31-4B8C-83A1-F6EECF244321}">
                <p14:modId xmlns:p14="http://schemas.microsoft.com/office/powerpoint/2010/main" val="238481332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3541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29F67E-1562-2018-61DB-403674D99D9D}"/>
              </a:ext>
            </a:extLst>
          </p:cNvPr>
          <p:cNvSpPr>
            <a:spLocks noGrp="1"/>
          </p:cNvSpPr>
          <p:nvPr>
            <p:ph type="title"/>
          </p:nvPr>
        </p:nvSpPr>
        <p:spPr>
          <a:xfrm>
            <a:off x="686834" y="1153572"/>
            <a:ext cx="3200400" cy="4461163"/>
          </a:xfrm>
        </p:spPr>
        <p:txBody>
          <a:bodyPr>
            <a:normAutofit/>
          </a:bodyPr>
          <a:lstStyle/>
          <a:p>
            <a:r>
              <a:rPr lang="en-US">
                <a:solidFill>
                  <a:srgbClr val="FFFFFF"/>
                </a:solidFill>
              </a:rPr>
              <a:t>Key Takeaways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BDE984B-AB59-AE04-E8A8-0F96F4B00B15}"/>
              </a:ext>
            </a:extLst>
          </p:cNvPr>
          <p:cNvSpPr>
            <a:spLocks noGrp="1"/>
          </p:cNvSpPr>
          <p:nvPr>
            <p:ph idx="1"/>
          </p:nvPr>
        </p:nvSpPr>
        <p:spPr>
          <a:xfrm>
            <a:off x="4447308" y="591344"/>
            <a:ext cx="6906491" cy="5585619"/>
          </a:xfrm>
        </p:spPr>
        <p:txBody>
          <a:bodyPr anchor="ctr">
            <a:normAutofit/>
          </a:bodyPr>
          <a:lstStyle/>
          <a:p>
            <a:r>
              <a:rPr lang="en-US" sz="1800"/>
              <a:t>Quantify RAG ROI: Identify two high-effort, documentation-heavy tasks and Operational efficiency by implementing a RAG solution.</a:t>
            </a:r>
          </a:p>
          <a:p>
            <a:endParaRPr lang="en-US" sz="1800"/>
          </a:p>
          <a:p>
            <a:r>
              <a:rPr lang="en-US" sz="1800"/>
              <a:t>Apply the Golden Prompt Blueprint: Formulate a structured, three-part prompt (Context, Constraint, Validation) designed to reduce AI hallucination </a:t>
            </a:r>
          </a:p>
          <a:p>
            <a:endParaRPr lang="en-US" sz="1800"/>
          </a:p>
          <a:p>
            <a:r>
              <a:rPr lang="en-US" sz="1800"/>
              <a:t>Define Agile AI Ownership: List the top two new </a:t>
            </a:r>
            <a:r>
              <a:rPr lang="en-US" sz="1800" err="1"/>
              <a:t>MLOps</a:t>
            </a:r>
            <a:r>
              <a:rPr lang="en-US" sz="1800"/>
              <a:t> metrics (e.g., Data Freshness, Vector Drift) and define the Agile team owner responsible for maintaining these quality guardrails.</a:t>
            </a:r>
          </a:p>
          <a:p>
            <a:endParaRPr lang="en-US" sz="1800"/>
          </a:p>
          <a:p>
            <a:r>
              <a:rPr lang="en-US" sz="1800"/>
              <a:t>Accelerate Product Delivery: Design a streamlined AI-assisted workflow for User Story creation, test plan development, automation, summary and </a:t>
            </a:r>
            <a:r>
              <a:rPr lang="en-US" sz="1800" err="1"/>
              <a:t>fied</a:t>
            </a:r>
            <a:r>
              <a:rPr lang="en-US" sz="1800"/>
              <a:t> on boarding  </a:t>
            </a:r>
          </a:p>
          <a:p>
            <a:endParaRPr lang="en-US" sz="1800"/>
          </a:p>
          <a:p>
            <a:r>
              <a:rPr lang="en-US" sz="1800"/>
              <a:t>Shift Human Skillset: Articulate how the human engineering role shifts from data compilation to Prompt Strategy and critical output validation, defining the new high-value skills for the team.</a:t>
            </a:r>
          </a:p>
          <a:p>
            <a:endParaRPr lang="en-US" sz="1800"/>
          </a:p>
          <a:p>
            <a:endParaRPr lang="en-US" sz="1800"/>
          </a:p>
        </p:txBody>
      </p:sp>
    </p:spTree>
    <p:extLst>
      <p:ext uri="{BB962C8B-B14F-4D97-AF65-F5344CB8AC3E}">
        <p14:creationId xmlns:p14="http://schemas.microsoft.com/office/powerpoint/2010/main" val="3327607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49A441-E10C-6DB1-FC55-99F009881170}"/>
              </a:ext>
            </a:extLst>
          </p:cNvPr>
          <p:cNvSpPr/>
          <p:nvPr/>
        </p:nvSpPr>
        <p:spPr>
          <a:xfrm>
            <a:off x="2548204" y="1980364"/>
            <a:ext cx="6436139" cy="2215991"/>
          </a:xfrm>
          <a:prstGeom prst="rect">
            <a:avLst/>
          </a:prstGeom>
          <a:noFill/>
        </p:spPr>
        <p:txBody>
          <a:bodyPr wrap="square" lIns="91440" tIns="45720" rIns="91440" bIns="45720">
            <a:spAutoFit/>
          </a:bodyPr>
          <a:lstStyle/>
          <a:p>
            <a:pPr algn="ctr"/>
            <a:r>
              <a:rPr lang="en-US" sz="13800" b="1" cap="none" spc="0" dirty="0">
                <a:ln w="22225">
                  <a:solidFill>
                    <a:schemeClr val="accent2"/>
                  </a:solidFill>
                  <a:prstDash val="solid"/>
                </a:ln>
                <a:solidFill>
                  <a:schemeClr val="accent2">
                    <a:lumMod val="40000"/>
                    <a:lumOff val="60000"/>
                  </a:schemeClr>
                </a:solidFill>
                <a:effectLst/>
              </a:rPr>
              <a:t>Back up</a:t>
            </a:r>
          </a:p>
        </p:txBody>
      </p:sp>
    </p:spTree>
    <p:extLst>
      <p:ext uri="{BB962C8B-B14F-4D97-AF65-F5344CB8AC3E}">
        <p14:creationId xmlns:p14="http://schemas.microsoft.com/office/powerpoint/2010/main" val="1592209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23F1-B013-4399-B9E2-52E502650CCC}"/>
              </a:ext>
            </a:extLst>
          </p:cNvPr>
          <p:cNvSpPr>
            <a:spLocks noGrp="1"/>
          </p:cNvSpPr>
          <p:nvPr>
            <p:ph type="title"/>
          </p:nvPr>
        </p:nvSpPr>
        <p:spPr>
          <a:xfrm>
            <a:off x="8017253" y="257082"/>
            <a:ext cx="3585465" cy="1657614"/>
          </a:xfrm>
        </p:spPr>
        <p:txBody>
          <a:bodyPr>
            <a:normAutofit/>
          </a:bodyPr>
          <a:lstStyle/>
          <a:p>
            <a:r>
              <a:rPr lang="en-US" sz="2800" b="1" dirty="0"/>
              <a:t>Manish K Agarwal</a:t>
            </a:r>
            <a:br>
              <a:rPr lang="en-US" sz="2800" dirty="0"/>
            </a:br>
            <a:r>
              <a:rPr lang="en-US" sz="1400" dirty="0">
                <a:solidFill>
                  <a:schemeClr val="accent1"/>
                </a:solidFill>
              </a:rPr>
              <a:t>https://www.linkedin.com/in/manishkagarwal/</a:t>
            </a:r>
            <a:br>
              <a:rPr lang="en-US" sz="2800" dirty="0"/>
            </a:br>
            <a:r>
              <a:rPr lang="en-US" sz="2000" dirty="0"/>
              <a:t>Sr. Director Technical Operation – </a:t>
            </a:r>
            <a:r>
              <a:rPr lang="en-US" sz="1200" dirty="0">
                <a:solidFill>
                  <a:schemeClr val="tx1">
                    <a:lumMod val="50000"/>
                    <a:lumOff val="50000"/>
                  </a:schemeClr>
                </a:solidFill>
                <a:latin typeface="Arial" panose="020B0604020202020204" pitchFamily="34" charset="0"/>
                <a:cs typeface="Arial" panose="020B0604020202020204" pitchFamily="34" charset="0"/>
              </a:rPr>
              <a:t>Infinera India Pvt Ltd, Bengaluru 560025</a:t>
            </a:r>
            <a:endParaRPr lang="en-US" sz="28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8DBF5EE-7CF1-4968-B5F4-039B7E0CA482}"/>
              </a:ext>
            </a:extLst>
          </p:cNvPr>
          <p:cNvPicPr>
            <a:picLocks noChangeAspect="1"/>
          </p:cNvPicPr>
          <p:nvPr/>
        </p:nvPicPr>
        <p:blipFill>
          <a:blip r:embed="rId2"/>
          <a:stretch>
            <a:fillRect/>
          </a:stretch>
        </p:blipFill>
        <p:spPr>
          <a:xfrm>
            <a:off x="4906370" y="681084"/>
            <a:ext cx="2628285" cy="1046083"/>
          </a:xfrm>
          <a:prstGeom prst="rect">
            <a:avLst/>
          </a:prstGeom>
        </p:spPr>
      </p:pic>
      <p:pic>
        <p:nvPicPr>
          <p:cNvPr id="5" name="Picture 4">
            <a:extLst>
              <a:ext uri="{FF2B5EF4-FFF2-40B4-BE49-F238E27FC236}">
                <a16:creationId xmlns:a16="http://schemas.microsoft.com/office/drawing/2014/main" id="{EADCC586-0C85-4B37-8DF9-B169C6698A0D}"/>
              </a:ext>
            </a:extLst>
          </p:cNvPr>
          <p:cNvPicPr>
            <a:picLocks noChangeAspect="1"/>
          </p:cNvPicPr>
          <p:nvPr/>
        </p:nvPicPr>
        <p:blipFill>
          <a:blip r:embed="rId3"/>
          <a:stretch>
            <a:fillRect/>
          </a:stretch>
        </p:blipFill>
        <p:spPr>
          <a:xfrm>
            <a:off x="5051657" y="5224425"/>
            <a:ext cx="2027690" cy="836421"/>
          </a:xfrm>
          <a:prstGeom prst="rect">
            <a:avLst/>
          </a:prstGeom>
        </p:spPr>
      </p:pic>
      <p:pic>
        <p:nvPicPr>
          <p:cNvPr id="6" name="Picture 5">
            <a:extLst>
              <a:ext uri="{FF2B5EF4-FFF2-40B4-BE49-F238E27FC236}">
                <a16:creationId xmlns:a16="http://schemas.microsoft.com/office/drawing/2014/main" id="{5CA560D7-FD10-46A9-B24A-009CAF859942}"/>
              </a:ext>
            </a:extLst>
          </p:cNvPr>
          <p:cNvPicPr>
            <a:picLocks noChangeAspect="1"/>
          </p:cNvPicPr>
          <p:nvPr/>
        </p:nvPicPr>
        <p:blipFill>
          <a:blip r:embed="rId4"/>
          <a:stretch>
            <a:fillRect/>
          </a:stretch>
        </p:blipFill>
        <p:spPr>
          <a:xfrm>
            <a:off x="5392036" y="2719707"/>
            <a:ext cx="1656952" cy="1050308"/>
          </a:xfrm>
          <a:prstGeom prst="rect">
            <a:avLst/>
          </a:prstGeom>
        </p:spPr>
      </p:pic>
      <p:pic>
        <p:nvPicPr>
          <p:cNvPr id="10" name="Picture 9">
            <a:extLst>
              <a:ext uri="{FF2B5EF4-FFF2-40B4-BE49-F238E27FC236}">
                <a16:creationId xmlns:a16="http://schemas.microsoft.com/office/drawing/2014/main" id="{2E43335D-5F8F-4BF1-AF33-D165DC644EDB}"/>
              </a:ext>
            </a:extLst>
          </p:cNvPr>
          <p:cNvPicPr>
            <a:picLocks noChangeAspect="1"/>
          </p:cNvPicPr>
          <p:nvPr/>
        </p:nvPicPr>
        <p:blipFill>
          <a:blip r:embed="rId5"/>
          <a:stretch>
            <a:fillRect/>
          </a:stretch>
        </p:blipFill>
        <p:spPr>
          <a:xfrm>
            <a:off x="324307" y="5224425"/>
            <a:ext cx="1623182" cy="697323"/>
          </a:xfrm>
          <a:prstGeom prst="rect">
            <a:avLst/>
          </a:prstGeom>
        </p:spPr>
      </p:pic>
      <p:pic>
        <p:nvPicPr>
          <p:cNvPr id="8" name="Picture 7">
            <a:extLst>
              <a:ext uri="{FF2B5EF4-FFF2-40B4-BE49-F238E27FC236}">
                <a16:creationId xmlns:a16="http://schemas.microsoft.com/office/drawing/2014/main" id="{0A820BF9-D86C-4473-A15D-AADC630E942B}"/>
              </a:ext>
            </a:extLst>
          </p:cNvPr>
          <p:cNvPicPr>
            <a:picLocks noChangeAspect="1"/>
          </p:cNvPicPr>
          <p:nvPr/>
        </p:nvPicPr>
        <p:blipFill>
          <a:blip r:embed="rId6"/>
          <a:stretch>
            <a:fillRect/>
          </a:stretch>
        </p:blipFill>
        <p:spPr>
          <a:xfrm>
            <a:off x="2685897" y="5345732"/>
            <a:ext cx="1669613" cy="576016"/>
          </a:xfrm>
          <a:prstGeom prst="rect">
            <a:avLst/>
          </a:prstGeom>
        </p:spPr>
      </p:pic>
      <p:sp>
        <p:nvSpPr>
          <p:cNvPr id="3" name="Content Placeholder 2">
            <a:extLst>
              <a:ext uri="{FF2B5EF4-FFF2-40B4-BE49-F238E27FC236}">
                <a16:creationId xmlns:a16="http://schemas.microsoft.com/office/drawing/2014/main" id="{8477A432-604F-4BA4-8112-CF7B195686C2}"/>
              </a:ext>
            </a:extLst>
          </p:cNvPr>
          <p:cNvSpPr>
            <a:spLocks noGrp="1"/>
          </p:cNvSpPr>
          <p:nvPr>
            <p:ph idx="1"/>
          </p:nvPr>
        </p:nvSpPr>
        <p:spPr>
          <a:xfrm>
            <a:off x="8017253" y="2274490"/>
            <a:ext cx="3772132" cy="4156789"/>
          </a:xfrm>
        </p:spPr>
        <p:txBody>
          <a:bodyPr>
            <a:normAutofit fontScale="92500" lnSpcReduction="20000"/>
          </a:bodyPr>
          <a:lstStyle/>
          <a:p>
            <a:r>
              <a:rPr lang="en-US" sz="2000" dirty="0">
                <a:latin typeface="+mj-lt"/>
                <a:ea typeface="+mj-ea"/>
                <a:cs typeface="+mj-cs"/>
              </a:rPr>
              <a:t>24+ years of progressive experience in networking Industry. Started my journey as network planner, optical engineer with service providers and for last 15 years working with networking product companies in SW engineering group. </a:t>
            </a:r>
          </a:p>
          <a:p>
            <a:r>
              <a:rPr lang="en-US" sz="2000" dirty="0">
                <a:latin typeface="+mj-lt"/>
                <a:ea typeface="+mj-ea"/>
                <a:cs typeface="+mj-cs"/>
              </a:rPr>
              <a:t>Major responsibilities: Product/Release delivery, Automation, Escalation and sustenance. </a:t>
            </a:r>
          </a:p>
          <a:p>
            <a:r>
              <a:rPr lang="en-US" sz="2000" dirty="0">
                <a:latin typeface="+mj-lt"/>
                <a:ea typeface="+mj-ea"/>
                <a:cs typeface="+mj-cs"/>
              </a:rPr>
              <a:t>Skills/Certifications: Machine Learning, GenAI, Python, PMP, Scrum, PO, Dockers, K8s, AWS, Terraform(</a:t>
            </a:r>
            <a:r>
              <a:rPr lang="en-US" sz="2000" dirty="0" err="1">
                <a:latin typeface="+mj-lt"/>
                <a:ea typeface="+mj-ea"/>
                <a:cs typeface="+mj-cs"/>
              </a:rPr>
              <a:t>IaC</a:t>
            </a:r>
            <a:r>
              <a:rPr lang="en-US" sz="2000" dirty="0">
                <a:latin typeface="+mj-lt"/>
                <a:ea typeface="+mj-ea"/>
                <a:cs typeface="+mj-cs"/>
              </a:rPr>
              <a:t>), Cloud compute </a:t>
            </a:r>
          </a:p>
          <a:p>
            <a:r>
              <a:rPr lang="en-US" sz="2000" dirty="0">
                <a:latin typeface="+mj-lt"/>
                <a:ea typeface="+mj-ea"/>
                <a:cs typeface="+mj-cs"/>
              </a:rPr>
              <a:t>Writing blogs, learning new technologies and training </a:t>
            </a:r>
          </a:p>
        </p:txBody>
      </p:sp>
      <p:cxnSp>
        <p:nvCxnSpPr>
          <p:cNvPr id="22" name="Straight Connector 24">
            <a:extLst>
              <a:ext uri="{FF2B5EF4-FFF2-40B4-BE49-F238E27FC236}">
                <a16:creationId xmlns:a16="http://schemas.microsoft.com/office/drawing/2014/main" id="{822A5670-0F7B-4199-AEAB-33FBA9CEA4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627" y="-1"/>
            <a:ext cx="0" cy="6858001"/>
          </a:xfrm>
          <a:prstGeom prst="line">
            <a:avLst/>
          </a:prstGeom>
          <a:ln w="3810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6">
            <a:extLst>
              <a:ext uri="{FF2B5EF4-FFF2-40B4-BE49-F238E27FC236}">
                <a16:creationId xmlns:a16="http://schemas.microsoft.com/office/drawing/2014/main" id="{8BB1744D-A7DF-4B65-B6E3-DCF12BB2D8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627" y="2228770"/>
            <a:ext cx="2877035"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8">
            <a:extLst>
              <a:ext uri="{FF2B5EF4-FFF2-40B4-BE49-F238E27FC236}">
                <a16:creationId xmlns:a16="http://schemas.microsoft.com/office/drawing/2014/main" id="{882DD753-EA38-4E86-91FB-05041A44A2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67905"/>
            <a:ext cx="7530662"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30">
            <a:extLst>
              <a:ext uri="{FF2B5EF4-FFF2-40B4-BE49-F238E27FC236}">
                <a16:creationId xmlns:a16="http://schemas.microsoft.com/office/drawing/2014/main" id="{6DA63E78-7704-45EF-B5D3-EADDF5D826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1218591" y="5706812"/>
            <a:ext cx="22860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CA9B107-8ED8-4572-651B-8782496F2CC2}"/>
              </a:ext>
            </a:extLst>
          </p:cNvPr>
          <p:cNvPicPr>
            <a:picLocks noChangeAspect="1"/>
          </p:cNvPicPr>
          <p:nvPr/>
        </p:nvPicPr>
        <p:blipFill>
          <a:blip r:embed="rId7"/>
          <a:stretch>
            <a:fillRect/>
          </a:stretch>
        </p:blipFill>
        <p:spPr>
          <a:xfrm>
            <a:off x="671210" y="488791"/>
            <a:ext cx="2849493" cy="3175771"/>
          </a:xfrm>
          <a:prstGeom prst="rect">
            <a:avLst/>
          </a:prstGeom>
        </p:spPr>
      </p:pic>
    </p:spTree>
    <p:extLst>
      <p:ext uri="{BB962C8B-B14F-4D97-AF65-F5344CB8AC3E}">
        <p14:creationId xmlns:p14="http://schemas.microsoft.com/office/powerpoint/2010/main" val="4147589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5BB7FF-66B2-A524-A843-56DD33695E60}"/>
              </a:ext>
            </a:extLst>
          </p:cNvPr>
          <p:cNvSpPr>
            <a:spLocks noGrp="1"/>
          </p:cNvSpPr>
          <p:nvPr>
            <p:ph type="title"/>
          </p:nvPr>
        </p:nvSpPr>
        <p:spPr>
          <a:xfrm>
            <a:off x="257697" y="278535"/>
            <a:ext cx="9895951" cy="1033669"/>
          </a:xfrm>
        </p:spPr>
        <p:txBody>
          <a:bodyPr>
            <a:normAutofit/>
          </a:bodyPr>
          <a:lstStyle/>
          <a:p>
            <a:r>
              <a:rPr lang="en-US" sz="4000" dirty="0">
                <a:solidFill>
                  <a:srgbClr val="FFFFFF"/>
                </a:solidFill>
              </a:rPr>
              <a:t>Business driven AI</a:t>
            </a:r>
          </a:p>
        </p:txBody>
      </p:sp>
      <p:sp>
        <p:nvSpPr>
          <p:cNvPr id="3" name="Content Placeholder 2">
            <a:extLst>
              <a:ext uri="{FF2B5EF4-FFF2-40B4-BE49-F238E27FC236}">
                <a16:creationId xmlns:a16="http://schemas.microsoft.com/office/drawing/2014/main" id="{7055259F-1681-CAE3-40EB-6B789F5F6928}"/>
              </a:ext>
            </a:extLst>
          </p:cNvPr>
          <p:cNvSpPr>
            <a:spLocks noGrp="1"/>
          </p:cNvSpPr>
          <p:nvPr>
            <p:ph idx="1"/>
          </p:nvPr>
        </p:nvSpPr>
        <p:spPr>
          <a:xfrm>
            <a:off x="172720" y="1622744"/>
            <a:ext cx="12019275" cy="5235255"/>
          </a:xfrm>
        </p:spPr>
        <p:txBody>
          <a:bodyPr anchor="ctr">
            <a:normAutofit/>
          </a:bodyPr>
          <a:lstStyle/>
          <a:p>
            <a:pPr>
              <a:buFont typeface="Arial" panose="020B0604020202020204" pitchFamily="34" charset="0"/>
              <a:buChar char="•"/>
            </a:pPr>
            <a:r>
              <a:rPr lang="en-US" sz="2000" b="0" i="0" dirty="0">
                <a:effectLst/>
                <a:latin typeface="Google Sans"/>
              </a:rPr>
              <a:t>Successfully implemented GenAI tools and techniques to enhance:</a:t>
            </a:r>
          </a:p>
          <a:p>
            <a:pPr marL="742950" lvl="1" indent="-285750">
              <a:buFont typeface="Arial" panose="020B0604020202020204" pitchFamily="34" charset="0"/>
              <a:buChar char="•"/>
            </a:pPr>
            <a:r>
              <a:rPr lang="en-US" sz="2000" b="0" i="0" dirty="0">
                <a:effectLst/>
                <a:latin typeface="Google Sans"/>
              </a:rPr>
              <a:t>Business profitability by identifying and mitigating potential risks.</a:t>
            </a:r>
          </a:p>
          <a:p>
            <a:pPr marL="742950" lvl="1" indent="-285750">
              <a:buFont typeface="Arial" panose="020B0604020202020204" pitchFamily="34" charset="0"/>
              <a:buChar char="•"/>
            </a:pPr>
            <a:r>
              <a:rPr lang="en-US" sz="2000" b="0" i="0" dirty="0">
                <a:effectLst/>
                <a:latin typeface="Google Sans"/>
              </a:rPr>
              <a:t>Operational efficiency through automated anomaly detection and process optimization.</a:t>
            </a:r>
          </a:p>
          <a:p>
            <a:pPr marL="742950" lvl="1" indent="-285750">
              <a:buFont typeface="Arial" panose="020B0604020202020204" pitchFamily="34" charset="0"/>
              <a:buChar char="•"/>
            </a:pPr>
            <a:r>
              <a:rPr lang="en-US" sz="2000" b="0" i="0" dirty="0">
                <a:effectLst/>
                <a:latin typeface="Google Sans"/>
              </a:rPr>
              <a:t>Employee experience by improving service personalization and feedback analysis.</a:t>
            </a:r>
          </a:p>
          <a:p>
            <a:r>
              <a:rPr lang="en-US" sz="2000" b="0" i="0" dirty="0">
                <a:effectLst/>
                <a:latin typeface="Google Sans"/>
              </a:rPr>
              <a:t>II. Spearheading Generative AI in Networking:</a:t>
            </a:r>
          </a:p>
          <a:p>
            <a:pPr lvl="1"/>
            <a:r>
              <a:rPr lang="en-US" sz="2000" b="0" i="0" dirty="0">
                <a:effectLst/>
                <a:latin typeface="Google Sans"/>
              </a:rPr>
              <a:t>Currently driving research and development efforts in applying Generative AI (GenAI) to the networking domain.</a:t>
            </a:r>
          </a:p>
          <a:p>
            <a:pPr lvl="1"/>
            <a:r>
              <a:rPr lang="en-US" sz="2000" b="0" i="0" dirty="0">
                <a:effectLst/>
                <a:latin typeface="Google Sans"/>
              </a:rPr>
              <a:t>Successfully built and demonstrated proof-of-concept (POC) solutions for internal use cases.</a:t>
            </a:r>
          </a:p>
          <a:p>
            <a:r>
              <a:rPr lang="en-US" sz="2000" b="0" i="0" dirty="0">
                <a:effectLst/>
                <a:latin typeface="Google Sans"/>
              </a:rPr>
              <a:t>III. Fostering Knowledge Sharing and Community Engagement:</a:t>
            </a:r>
          </a:p>
          <a:p>
            <a:pPr lvl="1"/>
            <a:r>
              <a:rPr lang="en-US" sz="2000" b="0" i="0" dirty="0">
                <a:effectLst/>
                <a:latin typeface="Google Sans"/>
              </a:rPr>
              <a:t>Passionately contributing to knowledge dissemination through:</a:t>
            </a:r>
          </a:p>
          <a:p>
            <a:pPr marL="1200150" lvl="2" indent="-285750"/>
            <a:r>
              <a:rPr lang="en-US" b="0" i="0" dirty="0">
                <a:effectLst/>
                <a:latin typeface="Google Sans"/>
              </a:rPr>
              <a:t>Regular workshops and training sessions for college students, equipping them with cutting-edge skills in machine learning, cloud computing, and GenAI.</a:t>
            </a:r>
          </a:p>
          <a:p>
            <a:pPr marL="1200150" lvl="2" indent="-285750"/>
            <a:r>
              <a:rPr lang="en-US" b="0" i="0" dirty="0">
                <a:effectLst/>
                <a:latin typeface="Google Sans"/>
              </a:rPr>
              <a:t>Active participation in online sessions and engagement with industry groups and NGOs, promoting the responsible and impactful use of AI technologies.</a:t>
            </a:r>
          </a:p>
        </p:txBody>
      </p:sp>
    </p:spTree>
    <p:extLst>
      <p:ext uri="{BB962C8B-B14F-4D97-AF65-F5344CB8AC3E}">
        <p14:creationId xmlns:p14="http://schemas.microsoft.com/office/powerpoint/2010/main" val="1794507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399FF-5FAD-9AF5-4250-737A8D1D56CB}"/>
              </a:ext>
            </a:extLst>
          </p:cNvPr>
          <p:cNvSpPr>
            <a:spLocks noGrp="1"/>
          </p:cNvSpPr>
          <p:nvPr>
            <p:ph type="title"/>
          </p:nvPr>
        </p:nvSpPr>
        <p:spPr>
          <a:xfrm>
            <a:off x="1604149" y="94706"/>
            <a:ext cx="3142344" cy="1325563"/>
          </a:xfrm>
        </p:spPr>
        <p:txBody>
          <a:bodyPr/>
          <a:lstStyle/>
          <a:p>
            <a:r>
              <a:rPr lang="en-US" b="1" dirty="0"/>
              <a:t>Education</a:t>
            </a:r>
          </a:p>
        </p:txBody>
      </p:sp>
      <p:grpSp>
        <p:nvGrpSpPr>
          <p:cNvPr id="13" name="Group 12">
            <a:extLst>
              <a:ext uri="{FF2B5EF4-FFF2-40B4-BE49-F238E27FC236}">
                <a16:creationId xmlns:a16="http://schemas.microsoft.com/office/drawing/2014/main" id="{88FD9842-153B-5539-707B-E4C4B46A315E}"/>
              </a:ext>
            </a:extLst>
          </p:cNvPr>
          <p:cNvGrpSpPr/>
          <p:nvPr/>
        </p:nvGrpSpPr>
        <p:grpSpPr>
          <a:xfrm>
            <a:off x="785030" y="1420269"/>
            <a:ext cx="4851400" cy="1328965"/>
            <a:chOff x="838200" y="1603149"/>
            <a:chExt cx="4851400" cy="1328965"/>
          </a:xfrm>
        </p:grpSpPr>
        <p:pic>
          <p:nvPicPr>
            <p:cNvPr id="4" name="Picture 3">
              <a:extLst>
                <a:ext uri="{FF2B5EF4-FFF2-40B4-BE49-F238E27FC236}">
                  <a16:creationId xmlns:a16="http://schemas.microsoft.com/office/drawing/2014/main" id="{F8BAA182-3488-490F-96DD-30DA4A53E4B1}"/>
                </a:ext>
              </a:extLst>
            </p:cNvPr>
            <p:cNvPicPr>
              <a:picLocks noChangeAspect="1"/>
            </p:cNvPicPr>
            <p:nvPr/>
          </p:nvPicPr>
          <p:blipFill>
            <a:blip r:embed="rId2"/>
            <a:stretch>
              <a:fillRect/>
            </a:stretch>
          </p:blipFill>
          <p:spPr>
            <a:xfrm>
              <a:off x="838200" y="1603149"/>
              <a:ext cx="1491261" cy="1325563"/>
            </a:xfrm>
            <a:prstGeom prst="rect">
              <a:avLst/>
            </a:prstGeom>
          </p:spPr>
        </p:pic>
        <p:sp>
          <p:nvSpPr>
            <p:cNvPr id="8" name="Title 1">
              <a:extLst>
                <a:ext uri="{FF2B5EF4-FFF2-40B4-BE49-F238E27FC236}">
                  <a16:creationId xmlns:a16="http://schemas.microsoft.com/office/drawing/2014/main" id="{F009D975-C227-3FE1-B7A1-3C68375EC103}"/>
                </a:ext>
              </a:extLst>
            </p:cNvPr>
            <p:cNvSpPr txBox="1">
              <a:spLocks/>
            </p:cNvSpPr>
            <p:nvPr/>
          </p:nvSpPr>
          <p:spPr>
            <a:xfrm>
              <a:off x="2547257" y="1606551"/>
              <a:ext cx="314234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General Mgmt.</a:t>
              </a:r>
            </a:p>
          </p:txBody>
        </p:sp>
      </p:grpSp>
      <p:grpSp>
        <p:nvGrpSpPr>
          <p:cNvPr id="12" name="Group 11">
            <a:extLst>
              <a:ext uri="{FF2B5EF4-FFF2-40B4-BE49-F238E27FC236}">
                <a16:creationId xmlns:a16="http://schemas.microsoft.com/office/drawing/2014/main" id="{EF8C9555-0571-0908-C900-C2141CC584B2}"/>
              </a:ext>
            </a:extLst>
          </p:cNvPr>
          <p:cNvGrpSpPr/>
          <p:nvPr/>
        </p:nvGrpSpPr>
        <p:grpSpPr>
          <a:xfrm>
            <a:off x="785031" y="3117901"/>
            <a:ext cx="4851398" cy="1454056"/>
            <a:chOff x="838201" y="3191465"/>
            <a:chExt cx="4851398" cy="1454056"/>
          </a:xfrm>
        </p:grpSpPr>
        <p:pic>
          <p:nvPicPr>
            <p:cNvPr id="5" name="Picture 4">
              <a:extLst>
                <a:ext uri="{FF2B5EF4-FFF2-40B4-BE49-F238E27FC236}">
                  <a16:creationId xmlns:a16="http://schemas.microsoft.com/office/drawing/2014/main" id="{DC7391B9-8BC9-A41F-6D2E-5D6F99563570}"/>
                </a:ext>
              </a:extLst>
            </p:cNvPr>
            <p:cNvPicPr>
              <a:picLocks noChangeAspect="1"/>
            </p:cNvPicPr>
            <p:nvPr/>
          </p:nvPicPr>
          <p:blipFill>
            <a:blip r:embed="rId3"/>
            <a:stretch>
              <a:fillRect/>
            </a:stretch>
          </p:blipFill>
          <p:spPr>
            <a:xfrm>
              <a:off x="838201" y="3213056"/>
              <a:ext cx="1491260" cy="1432465"/>
            </a:xfrm>
            <a:prstGeom prst="rect">
              <a:avLst/>
            </a:prstGeom>
          </p:spPr>
        </p:pic>
        <p:sp>
          <p:nvSpPr>
            <p:cNvPr id="10" name="Title 1">
              <a:extLst>
                <a:ext uri="{FF2B5EF4-FFF2-40B4-BE49-F238E27FC236}">
                  <a16:creationId xmlns:a16="http://schemas.microsoft.com/office/drawing/2014/main" id="{159D0664-467A-68BB-8304-5356CD22C13A}"/>
                </a:ext>
              </a:extLst>
            </p:cNvPr>
            <p:cNvSpPr txBox="1">
              <a:spLocks/>
            </p:cNvSpPr>
            <p:nvPr/>
          </p:nvSpPr>
          <p:spPr>
            <a:xfrm>
              <a:off x="2547256" y="3191465"/>
              <a:ext cx="3142343" cy="132556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Machine Learning</a:t>
              </a:r>
            </a:p>
            <a:p>
              <a:r>
                <a:rPr lang="en-US" sz="1900" dirty="0"/>
                <a:t>                    IIT Roorkee </a:t>
              </a:r>
            </a:p>
          </p:txBody>
        </p:sp>
      </p:grpSp>
      <p:cxnSp>
        <p:nvCxnSpPr>
          <p:cNvPr id="15" name="Straight Connector 14">
            <a:extLst>
              <a:ext uri="{FF2B5EF4-FFF2-40B4-BE49-F238E27FC236}">
                <a16:creationId xmlns:a16="http://schemas.microsoft.com/office/drawing/2014/main" id="{11897441-068A-E39F-F4C9-9FD7458EC2C1}"/>
              </a:ext>
            </a:extLst>
          </p:cNvPr>
          <p:cNvCxnSpPr>
            <a:cxnSpLocks/>
          </p:cNvCxnSpPr>
          <p:nvPr/>
        </p:nvCxnSpPr>
        <p:spPr>
          <a:xfrm>
            <a:off x="5313680" y="1198880"/>
            <a:ext cx="0" cy="5067306"/>
          </a:xfrm>
          <a:prstGeom prst="line">
            <a:avLst/>
          </a:prstGeom>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AC15B61-FAD6-62BF-D337-0C7472E05E1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74691" y="1319477"/>
            <a:ext cx="1619402" cy="1305028"/>
          </a:xfrm>
          <a:prstGeom prst="rect">
            <a:avLst/>
          </a:prstGeom>
          <a:noFill/>
        </p:spPr>
      </p:pic>
      <p:pic>
        <p:nvPicPr>
          <p:cNvPr id="18" name="Picture 17">
            <a:extLst>
              <a:ext uri="{FF2B5EF4-FFF2-40B4-BE49-F238E27FC236}">
                <a16:creationId xmlns:a16="http://schemas.microsoft.com/office/drawing/2014/main" id="{85F018B2-0893-4AAC-9CC1-7E257C2A1DE3}"/>
              </a:ext>
            </a:extLst>
          </p:cNvPr>
          <p:cNvPicPr>
            <a:picLocks noChangeAspect="1"/>
          </p:cNvPicPr>
          <p:nvPr/>
        </p:nvPicPr>
        <p:blipFill>
          <a:blip r:embed="rId5" cstate="print">
            <a:clrChange>
              <a:clrFrom>
                <a:srgbClr val="F7F7F7"/>
              </a:clrFrom>
              <a:clrTo>
                <a:srgbClr val="F7F7F7">
                  <a:alpha val="0"/>
                </a:srgbClr>
              </a:clrTo>
            </a:clrChange>
            <a:extLst>
              <a:ext uri="{28A0092B-C50C-407E-A947-70E740481C1C}">
                <a14:useLocalDpi xmlns:a14="http://schemas.microsoft.com/office/drawing/2010/main" val="0"/>
              </a:ext>
            </a:extLst>
          </a:blip>
          <a:stretch>
            <a:fillRect/>
          </a:stretch>
        </p:blipFill>
        <p:spPr>
          <a:xfrm>
            <a:off x="7825089" y="1209290"/>
            <a:ext cx="1697460" cy="1326714"/>
          </a:xfrm>
          <a:prstGeom prst="rect">
            <a:avLst/>
          </a:prstGeom>
        </p:spPr>
      </p:pic>
      <p:pic>
        <p:nvPicPr>
          <p:cNvPr id="19" name="Picture 18">
            <a:extLst>
              <a:ext uri="{FF2B5EF4-FFF2-40B4-BE49-F238E27FC236}">
                <a16:creationId xmlns:a16="http://schemas.microsoft.com/office/drawing/2014/main" id="{4F5EAC90-1F95-468B-9534-891DF12F7C11}"/>
              </a:ext>
            </a:extLst>
          </p:cNvPr>
          <p:cNvPicPr/>
          <p:nvPr/>
        </p:nvPicPr>
        <p:blipFill>
          <a:blip r:embed="rId6">
            <a:clrChange>
              <a:clrFrom>
                <a:srgbClr val="F8F8F8"/>
              </a:clrFrom>
              <a:clrTo>
                <a:srgbClr val="F8F8F8">
                  <a:alpha val="0"/>
                </a:srgbClr>
              </a:clrTo>
            </a:clrChange>
          </a:blip>
          <a:stretch>
            <a:fillRect/>
          </a:stretch>
        </p:blipFill>
        <p:spPr>
          <a:xfrm>
            <a:off x="9833724" y="1215731"/>
            <a:ext cx="1298088" cy="1242560"/>
          </a:xfrm>
          <a:prstGeom prst="rect">
            <a:avLst/>
          </a:prstGeom>
        </p:spPr>
      </p:pic>
      <p:pic>
        <p:nvPicPr>
          <p:cNvPr id="21" name="Picture 20">
            <a:extLst>
              <a:ext uri="{FF2B5EF4-FFF2-40B4-BE49-F238E27FC236}">
                <a16:creationId xmlns:a16="http://schemas.microsoft.com/office/drawing/2014/main" id="{18DE30A9-1A02-B0FD-BC86-B3B29F7CE3F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099074" y="2895206"/>
            <a:ext cx="1194806" cy="1194806"/>
          </a:xfrm>
          <a:prstGeom prst="rect">
            <a:avLst/>
          </a:prstGeom>
          <a:noFill/>
          <a:ln>
            <a:noFill/>
          </a:ln>
        </p:spPr>
      </p:pic>
      <p:pic>
        <p:nvPicPr>
          <p:cNvPr id="22" name="Picture 21">
            <a:extLst>
              <a:ext uri="{FF2B5EF4-FFF2-40B4-BE49-F238E27FC236}">
                <a16:creationId xmlns:a16="http://schemas.microsoft.com/office/drawing/2014/main" id="{A0C445B0-C5F0-D408-D897-FB47886606D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01985" y="2873947"/>
            <a:ext cx="1237324" cy="1237324"/>
          </a:xfrm>
          <a:prstGeom prst="rect">
            <a:avLst/>
          </a:prstGeom>
          <a:noFill/>
          <a:ln>
            <a:noFill/>
          </a:ln>
        </p:spPr>
      </p:pic>
      <p:pic>
        <p:nvPicPr>
          <p:cNvPr id="23" name="Picture 22">
            <a:extLst>
              <a:ext uri="{FF2B5EF4-FFF2-40B4-BE49-F238E27FC236}">
                <a16:creationId xmlns:a16="http://schemas.microsoft.com/office/drawing/2014/main" id="{83474557-B4F3-AEAA-A24F-8CD9E1CF32DD}"/>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90965" y="4704039"/>
            <a:ext cx="1933294" cy="1015516"/>
          </a:xfrm>
          <a:prstGeom prst="rect">
            <a:avLst/>
          </a:prstGeom>
          <a:noFill/>
          <a:ln>
            <a:noFill/>
          </a:ln>
        </p:spPr>
      </p:pic>
      <p:pic>
        <p:nvPicPr>
          <p:cNvPr id="24" name="Picture 23" descr="Training - elastisys">
            <a:extLst>
              <a:ext uri="{FF2B5EF4-FFF2-40B4-BE49-F238E27FC236}">
                <a16:creationId xmlns:a16="http://schemas.microsoft.com/office/drawing/2014/main" id="{B0B338E9-5CC2-401D-884F-EDCCAAE76405}"/>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798798" y="2895206"/>
            <a:ext cx="1310342" cy="1284058"/>
          </a:xfrm>
          <a:prstGeom prst="rect">
            <a:avLst/>
          </a:prstGeom>
          <a:noFill/>
        </p:spPr>
      </p:pic>
      <p:pic>
        <p:nvPicPr>
          <p:cNvPr id="26" name="Picture 25">
            <a:extLst>
              <a:ext uri="{FF2B5EF4-FFF2-40B4-BE49-F238E27FC236}">
                <a16:creationId xmlns:a16="http://schemas.microsoft.com/office/drawing/2014/main" id="{047CA4E3-5ECC-EF40-6E4A-C5C60781D8EC}"/>
              </a:ext>
            </a:extLst>
          </p:cNvPr>
          <p:cNvPicPr>
            <a:picLocks noChangeAspect="1"/>
          </p:cNvPicPr>
          <p:nvPr/>
        </p:nvPicPr>
        <p:blipFill>
          <a:blip r:embed="rId11"/>
          <a:stretch>
            <a:fillRect/>
          </a:stretch>
        </p:blipFill>
        <p:spPr>
          <a:xfrm>
            <a:off x="8200178" y="4621165"/>
            <a:ext cx="3400900" cy="1181265"/>
          </a:xfrm>
          <a:prstGeom prst="rect">
            <a:avLst/>
          </a:prstGeom>
        </p:spPr>
      </p:pic>
      <p:sp>
        <p:nvSpPr>
          <p:cNvPr id="27" name="Title 1">
            <a:extLst>
              <a:ext uri="{FF2B5EF4-FFF2-40B4-BE49-F238E27FC236}">
                <a16:creationId xmlns:a16="http://schemas.microsoft.com/office/drawing/2014/main" id="{451A6557-6B08-3EF3-1C5C-C414C87D13D9}"/>
              </a:ext>
            </a:extLst>
          </p:cNvPr>
          <p:cNvSpPr txBox="1">
            <a:spLocks/>
          </p:cNvSpPr>
          <p:nvPr/>
        </p:nvSpPr>
        <p:spPr>
          <a:xfrm>
            <a:off x="7027888" y="82415"/>
            <a:ext cx="57454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Certifications</a:t>
            </a:r>
          </a:p>
        </p:txBody>
      </p:sp>
      <p:pic>
        <p:nvPicPr>
          <p:cNvPr id="6" name="Picture 5">
            <a:extLst>
              <a:ext uri="{FF2B5EF4-FFF2-40B4-BE49-F238E27FC236}">
                <a16:creationId xmlns:a16="http://schemas.microsoft.com/office/drawing/2014/main" id="{1CA44460-E24F-9859-53C6-4904D2822606}"/>
              </a:ext>
            </a:extLst>
          </p:cNvPr>
          <p:cNvPicPr>
            <a:picLocks noChangeAspect="1"/>
          </p:cNvPicPr>
          <p:nvPr/>
        </p:nvPicPr>
        <p:blipFill>
          <a:blip r:embed="rId12"/>
          <a:stretch>
            <a:fillRect/>
          </a:stretch>
        </p:blipFill>
        <p:spPr>
          <a:xfrm>
            <a:off x="713437" y="4890157"/>
            <a:ext cx="1781424" cy="1333686"/>
          </a:xfrm>
          <a:prstGeom prst="rect">
            <a:avLst/>
          </a:prstGeom>
        </p:spPr>
      </p:pic>
      <p:sp>
        <p:nvSpPr>
          <p:cNvPr id="14" name="Title 1">
            <a:extLst>
              <a:ext uri="{FF2B5EF4-FFF2-40B4-BE49-F238E27FC236}">
                <a16:creationId xmlns:a16="http://schemas.microsoft.com/office/drawing/2014/main" id="{B01F70CA-45E5-20DB-98AE-89F5787F8725}"/>
              </a:ext>
            </a:extLst>
          </p:cNvPr>
          <p:cNvSpPr txBox="1">
            <a:spLocks/>
          </p:cNvSpPr>
          <p:nvPr/>
        </p:nvSpPr>
        <p:spPr>
          <a:xfrm>
            <a:off x="2631890" y="5056773"/>
            <a:ext cx="3142343" cy="132556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ECE Engineering</a:t>
            </a:r>
          </a:p>
          <a:p>
            <a:r>
              <a:rPr lang="en-US" sz="1900" dirty="0"/>
              <a:t>                    ITM Gurgaon</a:t>
            </a:r>
          </a:p>
        </p:txBody>
      </p:sp>
    </p:spTree>
    <p:extLst>
      <p:ext uri="{BB962C8B-B14F-4D97-AF65-F5344CB8AC3E}">
        <p14:creationId xmlns:p14="http://schemas.microsoft.com/office/powerpoint/2010/main" val="4208139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descr="A group of people sitting in a lecture hall&#10;&#10;Description automatically generated with low confidence">
            <a:extLst>
              <a:ext uri="{FF2B5EF4-FFF2-40B4-BE49-F238E27FC236}">
                <a16:creationId xmlns:a16="http://schemas.microsoft.com/office/drawing/2014/main" id="{6E7BF42B-EB42-C2E6-7E62-77080347C0B2}"/>
              </a:ext>
            </a:extLst>
          </p:cNvPr>
          <p:cNvPicPr>
            <a:picLocks noChangeAspect="1"/>
          </p:cNvPicPr>
          <p:nvPr/>
        </p:nvPicPr>
        <p:blipFill rotWithShape="1">
          <a:blip r:embed="rId2"/>
          <a:srcRect l="18599" r="24892" b="2"/>
          <a:stretch/>
        </p:blipFill>
        <p:spPr>
          <a:xfrm>
            <a:off x="4166505" y="10"/>
            <a:ext cx="4444096" cy="3067040"/>
          </a:xfrm>
          <a:prstGeom prst="rect">
            <a:avLst/>
          </a:prstGeom>
        </p:spPr>
      </p:pic>
      <p:pic>
        <p:nvPicPr>
          <p:cNvPr id="11" name="Picture 10" descr="A presentation screen with a picture of data structures&#10;&#10;Description automatically generated">
            <a:extLst>
              <a:ext uri="{FF2B5EF4-FFF2-40B4-BE49-F238E27FC236}">
                <a16:creationId xmlns:a16="http://schemas.microsoft.com/office/drawing/2014/main" id="{5085391B-BF86-5CF1-E5B4-A44D3FBBE663}"/>
              </a:ext>
            </a:extLst>
          </p:cNvPr>
          <p:cNvPicPr>
            <a:picLocks noChangeAspect="1"/>
          </p:cNvPicPr>
          <p:nvPr/>
        </p:nvPicPr>
        <p:blipFill rotWithShape="1">
          <a:blip r:embed="rId3"/>
          <a:srcRect t="24842" r="2" b="27358"/>
          <a:stretch/>
        </p:blipFill>
        <p:spPr>
          <a:xfrm>
            <a:off x="-1" y="3790950"/>
            <a:ext cx="8305800" cy="3067051"/>
          </a:xfrm>
          <a:prstGeom prst="rect">
            <a:avLst/>
          </a:prstGeom>
        </p:spPr>
      </p:pic>
      <p:sp>
        <p:nvSpPr>
          <p:cNvPr id="18" name="Freeform: Shape 17">
            <a:extLst>
              <a:ext uri="{FF2B5EF4-FFF2-40B4-BE49-F238E27FC236}">
                <a16:creationId xmlns:a16="http://schemas.microsoft.com/office/drawing/2014/main" id="{EA518CE4-E4D4-4D8A-980F-6D692AC96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55454" cy="4845530"/>
          </a:xfrm>
          <a:custGeom>
            <a:avLst/>
            <a:gdLst>
              <a:gd name="connsiteX0" fmla="*/ 0 w 5155454"/>
              <a:gd name="connsiteY0" fmla="*/ 0 h 4845530"/>
              <a:gd name="connsiteX1" fmla="*/ 4766270 w 5155454"/>
              <a:gd name="connsiteY1" fmla="*/ 0 h 4845530"/>
              <a:gd name="connsiteX2" fmla="*/ 4896671 w 5155454"/>
              <a:gd name="connsiteY2" fmla="*/ 270697 h 4845530"/>
              <a:gd name="connsiteX3" fmla="*/ 5155454 w 5155454"/>
              <a:gd name="connsiteY3" fmla="*/ 1552495 h 4845530"/>
              <a:gd name="connsiteX4" fmla="*/ 1862419 w 5155454"/>
              <a:gd name="connsiteY4" fmla="*/ 4845530 h 4845530"/>
              <a:gd name="connsiteX5" fmla="*/ 21252 w 5155454"/>
              <a:gd name="connsiteY5" fmla="*/ 4283132 h 4845530"/>
              <a:gd name="connsiteX6" fmla="*/ 0 w 5155454"/>
              <a:gd name="connsiteY6" fmla="*/ 4267240 h 484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5454" h="4845530">
                <a:moveTo>
                  <a:pt x="0" y="0"/>
                </a:moveTo>
                <a:lnTo>
                  <a:pt x="4766270" y="0"/>
                </a:lnTo>
                <a:lnTo>
                  <a:pt x="4896671" y="270697"/>
                </a:lnTo>
                <a:cubicBezTo>
                  <a:pt x="5063308" y="664671"/>
                  <a:pt x="5155454" y="1097822"/>
                  <a:pt x="5155454" y="1552495"/>
                </a:cubicBezTo>
                <a:cubicBezTo>
                  <a:pt x="5155454" y="3371188"/>
                  <a:pt x="3681112" y="4845530"/>
                  <a:pt x="1862419" y="4845530"/>
                </a:cubicBezTo>
                <a:cubicBezTo>
                  <a:pt x="1180409" y="4845530"/>
                  <a:pt x="546824" y="4638201"/>
                  <a:pt x="21252" y="4283132"/>
                </a:cubicBezTo>
                <a:lnTo>
                  <a:pt x="0" y="42672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group of people posing for a photo&#10;&#10;Description automatically generated">
            <a:extLst>
              <a:ext uri="{FF2B5EF4-FFF2-40B4-BE49-F238E27FC236}">
                <a16:creationId xmlns:a16="http://schemas.microsoft.com/office/drawing/2014/main" id="{E457E963-83BE-B51F-04FA-56A4575BB09F}"/>
              </a:ext>
            </a:extLst>
          </p:cNvPr>
          <p:cNvPicPr>
            <a:picLocks noChangeAspect="1"/>
          </p:cNvPicPr>
          <p:nvPr/>
        </p:nvPicPr>
        <p:blipFill rotWithShape="1">
          <a:blip r:embed="rId4"/>
          <a:srcRect l="9627" r="6374" b="-3"/>
          <a:stretch/>
        </p:blipFill>
        <p:spPr>
          <a:xfrm>
            <a:off x="1" y="2"/>
            <a:ext cx="5017099" cy="4718647"/>
          </a:xfrm>
          <a:custGeom>
            <a:avLst/>
            <a:gdLst/>
            <a:ahLst/>
            <a:cxnLst/>
            <a:rect l="l" t="t" r="r" b="b"/>
            <a:pathLst>
              <a:path w="5017099" h="4718647">
                <a:moveTo>
                  <a:pt x="0" y="0"/>
                </a:moveTo>
                <a:lnTo>
                  <a:pt x="4599738" y="0"/>
                </a:lnTo>
                <a:lnTo>
                  <a:pt x="4636346" y="60259"/>
                </a:lnTo>
                <a:cubicBezTo>
                  <a:pt x="4879170" y="507256"/>
                  <a:pt x="5017099" y="1019504"/>
                  <a:pt x="5017099" y="1563967"/>
                </a:cubicBezTo>
                <a:cubicBezTo>
                  <a:pt x="5017099" y="3306249"/>
                  <a:pt x="3604701" y="4718647"/>
                  <a:pt x="1862419" y="4718647"/>
                </a:cubicBezTo>
                <a:cubicBezTo>
                  <a:pt x="1209063" y="4718647"/>
                  <a:pt x="602098" y="4520029"/>
                  <a:pt x="98607" y="4179877"/>
                </a:cubicBezTo>
                <a:lnTo>
                  <a:pt x="0" y="4106140"/>
                </a:lnTo>
                <a:close/>
              </a:path>
            </a:pathLst>
          </a:custGeom>
        </p:spPr>
      </p:pic>
      <p:sp>
        <p:nvSpPr>
          <p:cNvPr id="20" name="Freeform: Shape 19">
            <a:extLst>
              <a:ext uri="{FF2B5EF4-FFF2-40B4-BE49-F238E27FC236}">
                <a16:creationId xmlns:a16="http://schemas.microsoft.com/office/drawing/2014/main" id="{F82BF3E2-EB0E-40D6-8835-2367A5316C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8480" y="1563968"/>
            <a:ext cx="6043520" cy="5294033"/>
          </a:xfrm>
          <a:custGeom>
            <a:avLst/>
            <a:gdLst>
              <a:gd name="connsiteX0" fmla="*/ 3600823 w 6043520"/>
              <a:gd name="connsiteY0" fmla="*/ 0 h 5294033"/>
              <a:gd name="connsiteX1" fmla="*/ 5891281 w 6043520"/>
              <a:gd name="connsiteY1" fmla="*/ 822253 h 5294033"/>
              <a:gd name="connsiteX2" fmla="*/ 6043520 w 6043520"/>
              <a:gd name="connsiteY2" fmla="*/ 960617 h 5294033"/>
              <a:gd name="connsiteX3" fmla="*/ 6043520 w 6043520"/>
              <a:gd name="connsiteY3" fmla="*/ 5294033 h 5294033"/>
              <a:gd name="connsiteX4" fmla="*/ 423445 w 6043520"/>
              <a:gd name="connsiteY4" fmla="*/ 5294033 h 5294033"/>
              <a:gd name="connsiteX5" fmla="*/ 282971 w 6043520"/>
              <a:gd name="connsiteY5" fmla="*/ 5002426 h 5294033"/>
              <a:gd name="connsiteX6" fmla="*/ 0 w 6043520"/>
              <a:gd name="connsiteY6" fmla="*/ 3600823 h 5294033"/>
              <a:gd name="connsiteX7" fmla="*/ 3600823 w 6043520"/>
              <a:gd name="connsiteY7" fmla="*/ 0 h 5294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3520" h="5294033">
                <a:moveTo>
                  <a:pt x="3600823" y="0"/>
                </a:moveTo>
                <a:cubicBezTo>
                  <a:pt x="4470871" y="0"/>
                  <a:pt x="5268847" y="308574"/>
                  <a:pt x="5891281" y="822253"/>
                </a:cubicBezTo>
                <a:lnTo>
                  <a:pt x="6043520" y="960617"/>
                </a:lnTo>
                <a:lnTo>
                  <a:pt x="6043520" y="5294033"/>
                </a:lnTo>
                <a:lnTo>
                  <a:pt x="423445" y="5294033"/>
                </a:lnTo>
                <a:lnTo>
                  <a:pt x="282971" y="5002426"/>
                </a:lnTo>
                <a:cubicBezTo>
                  <a:pt x="100759" y="4571630"/>
                  <a:pt x="0" y="4097993"/>
                  <a:pt x="0" y="3600823"/>
                </a:cubicBezTo>
                <a:cubicBezTo>
                  <a:pt x="0" y="1612143"/>
                  <a:pt x="1612143" y="0"/>
                  <a:pt x="360082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A screen shot of a presentation&#10;&#10;Description automatically generated">
            <a:extLst>
              <a:ext uri="{FF2B5EF4-FFF2-40B4-BE49-F238E27FC236}">
                <a16:creationId xmlns:a16="http://schemas.microsoft.com/office/drawing/2014/main" id="{4A3AFDA6-6818-524C-AF7E-294BC6D88BA3}"/>
              </a:ext>
            </a:extLst>
          </p:cNvPr>
          <p:cNvPicPr>
            <a:picLocks noChangeAspect="1"/>
          </p:cNvPicPr>
          <p:nvPr/>
        </p:nvPicPr>
        <p:blipFill rotWithShape="1">
          <a:blip r:embed="rId5"/>
          <a:srcRect l="18577" r="19291" b="-1"/>
          <a:stretch/>
        </p:blipFill>
        <p:spPr>
          <a:xfrm>
            <a:off x="6283728" y="1699213"/>
            <a:ext cx="5908273" cy="5158786"/>
          </a:xfrm>
          <a:custGeom>
            <a:avLst/>
            <a:gdLst/>
            <a:ahLst/>
            <a:cxnLst/>
            <a:rect l="l" t="t" r="r" b="b"/>
            <a:pathLst>
              <a:path w="5908273" h="5158786">
                <a:moveTo>
                  <a:pt x="3465576" y="0"/>
                </a:moveTo>
                <a:cubicBezTo>
                  <a:pt x="4302945" y="0"/>
                  <a:pt x="5070948" y="296984"/>
                  <a:pt x="5670004" y="791369"/>
                </a:cubicBezTo>
                <a:lnTo>
                  <a:pt x="5908273" y="1007923"/>
                </a:lnTo>
                <a:lnTo>
                  <a:pt x="5908273" y="5158786"/>
                </a:lnTo>
                <a:lnTo>
                  <a:pt x="443374" y="5158786"/>
                </a:lnTo>
                <a:lnTo>
                  <a:pt x="418277" y="5117476"/>
                </a:lnTo>
                <a:cubicBezTo>
                  <a:pt x="151523" y="4626427"/>
                  <a:pt x="0" y="4063697"/>
                  <a:pt x="0" y="3465576"/>
                </a:cubicBezTo>
                <a:cubicBezTo>
                  <a:pt x="0" y="1551591"/>
                  <a:pt x="1551591" y="0"/>
                  <a:pt x="3465576" y="0"/>
                </a:cubicBezTo>
                <a:close/>
              </a:path>
            </a:pathLst>
          </a:custGeom>
        </p:spPr>
      </p:pic>
      <p:sp>
        <p:nvSpPr>
          <p:cNvPr id="22" name="Oval 21">
            <a:extLst>
              <a:ext uri="{FF2B5EF4-FFF2-40B4-BE49-F238E27FC236}">
                <a16:creationId xmlns:a16="http://schemas.microsoft.com/office/drawing/2014/main" id="{481E86DD-89E6-42B2-8675-84B7C56BF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0534" y="1716727"/>
            <a:ext cx="4572000" cy="45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standing at a podium&#10;&#10;Description automatically generated">
            <a:extLst>
              <a:ext uri="{FF2B5EF4-FFF2-40B4-BE49-F238E27FC236}">
                <a16:creationId xmlns:a16="http://schemas.microsoft.com/office/drawing/2014/main" id="{4185979B-C825-0447-3ED9-5A8482FF30E3}"/>
              </a:ext>
            </a:extLst>
          </p:cNvPr>
          <p:cNvPicPr>
            <a:picLocks noChangeAspect="1"/>
          </p:cNvPicPr>
          <p:nvPr/>
        </p:nvPicPr>
        <p:blipFill rotWithShape="1">
          <a:blip r:embed="rId6"/>
          <a:srcRect r="3" b="25002"/>
          <a:stretch/>
        </p:blipFill>
        <p:spPr>
          <a:xfrm>
            <a:off x="3287694" y="1853886"/>
            <a:ext cx="4297680" cy="4297680"/>
          </a:xfrm>
          <a:custGeom>
            <a:avLst/>
            <a:gdLst/>
            <a:ahLst/>
            <a:cxnLst/>
            <a:rect l="l" t="t" r="r" b="b"/>
            <a:pathLst>
              <a:path w="4297680" h="4297680">
                <a:moveTo>
                  <a:pt x="2148840" y="0"/>
                </a:moveTo>
                <a:cubicBezTo>
                  <a:pt x="3335612" y="0"/>
                  <a:pt x="4297680" y="962068"/>
                  <a:pt x="4297680" y="2148840"/>
                </a:cubicBezTo>
                <a:cubicBezTo>
                  <a:pt x="4297680" y="3335612"/>
                  <a:pt x="3335612" y="4297680"/>
                  <a:pt x="2148840" y="4297680"/>
                </a:cubicBezTo>
                <a:cubicBezTo>
                  <a:pt x="962068" y="4297680"/>
                  <a:pt x="0" y="3335612"/>
                  <a:pt x="0" y="2148840"/>
                </a:cubicBezTo>
                <a:cubicBezTo>
                  <a:pt x="0" y="962068"/>
                  <a:pt x="962068" y="0"/>
                  <a:pt x="2148840" y="0"/>
                </a:cubicBezTo>
                <a:close/>
              </a:path>
            </a:pathLst>
          </a:custGeom>
        </p:spPr>
      </p:pic>
      <p:sp>
        <p:nvSpPr>
          <p:cNvPr id="24" name="Freeform: Shape 23">
            <a:extLst>
              <a:ext uri="{FF2B5EF4-FFF2-40B4-BE49-F238E27FC236}">
                <a16:creationId xmlns:a16="http://schemas.microsoft.com/office/drawing/2014/main" id="{5EFE9E4D-D93B-4B04-A3B5-234F5DBB9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62313" y="-1"/>
            <a:ext cx="4444096" cy="3211788"/>
          </a:xfrm>
          <a:custGeom>
            <a:avLst/>
            <a:gdLst>
              <a:gd name="connsiteX0" fmla="*/ 5102 w 4444096"/>
              <a:gd name="connsiteY0" fmla="*/ 0 h 3211788"/>
              <a:gd name="connsiteX1" fmla="*/ 4444096 w 4444096"/>
              <a:gd name="connsiteY1" fmla="*/ 0 h 3211788"/>
              <a:gd name="connsiteX2" fmla="*/ 4444096 w 4444096"/>
              <a:gd name="connsiteY2" fmla="*/ 2908319 h 3211788"/>
              <a:gd name="connsiteX3" fmla="*/ 4321598 w 4444096"/>
              <a:gd name="connsiteY3" fmla="*/ 2967330 h 3211788"/>
              <a:gd name="connsiteX4" fmla="*/ 3110753 w 4444096"/>
              <a:gd name="connsiteY4" fmla="*/ 3211788 h 3211788"/>
              <a:gd name="connsiteX5" fmla="*/ 0 w 4444096"/>
              <a:gd name="connsiteY5" fmla="*/ 101035 h 32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4096" h="3211788">
                <a:moveTo>
                  <a:pt x="5102" y="0"/>
                </a:moveTo>
                <a:lnTo>
                  <a:pt x="4444096" y="0"/>
                </a:lnTo>
                <a:lnTo>
                  <a:pt x="4444096" y="2908319"/>
                </a:lnTo>
                <a:lnTo>
                  <a:pt x="4321598" y="2967330"/>
                </a:lnTo>
                <a:cubicBezTo>
                  <a:pt x="3949433" y="3124742"/>
                  <a:pt x="3540258" y="3211788"/>
                  <a:pt x="3110753" y="3211788"/>
                </a:cubicBezTo>
                <a:cubicBezTo>
                  <a:pt x="1392732" y="3211788"/>
                  <a:pt x="0" y="1819056"/>
                  <a:pt x="0" y="10103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pic>
        <p:nvPicPr>
          <p:cNvPr id="9" name="Picture 8" descr="A group of people sitting in a auditorium&#10;&#10;Description automatically generated with medium confidence">
            <a:extLst>
              <a:ext uri="{FF2B5EF4-FFF2-40B4-BE49-F238E27FC236}">
                <a16:creationId xmlns:a16="http://schemas.microsoft.com/office/drawing/2014/main" id="{8AC09DCA-8E1C-D88C-CD83-18F2D6B3404C}"/>
              </a:ext>
            </a:extLst>
          </p:cNvPr>
          <p:cNvPicPr>
            <a:picLocks noChangeAspect="1"/>
          </p:cNvPicPr>
          <p:nvPr/>
        </p:nvPicPr>
        <p:blipFill rotWithShape="1">
          <a:blip r:embed="rId7"/>
          <a:srcRect l="19623" r="22084" b="1"/>
          <a:stretch/>
        </p:blipFill>
        <p:spPr>
          <a:xfrm>
            <a:off x="7928700" y="-1"/>
            <a:ext cx="4277711" cy="3045402"/>
          </a:xfrm>
          <a:custGeom>
            <a:avLst/>
            <a:gdLst/>
            <a:ahLst/>
            <a:cxnLst/>
            <a:rect l="l" t="t" r="r" b="b"/>
            <a:pathLst>
              <a:path w="4277711" h="3045402">
                <a:moveTo>
                  <a:pt x="5102" y="0"/>
                </a:moveTo>
                <a:lnTo>
                  <a:pt x="4277711" y="0"/>
                </a:lnTo>
                <a:lnTo>
                  <a:pt x="4277711" y="2723810"/>
                </a:lnTo>
                <a:lnTo>
                  <a:pt x="4090449" y="2814019"/>
                </a:lnTo>
                <a:cubicBezTo>
                  <a:pt x="3738190" y="2963012"/>
                  <a:pt x="3350901" y="3045402"/>
                  <a:pt x="2944368" y="3045402"/>
                </a:cubicBezTo>
                <a:cubicBezTo>
                  <a:pt x="1318238" y="3045402"/>
                  <a:pt x="0" y="1727164"/>
                  <a:pt x="0" y="101034"/>
                </a:cubicBezTo>
                <a:close/>
              </a:path>
            </a:pathLst>
          </a:custGeom>
        </p:spPr>
      </p:pic>
    </p:spTree>
    <p:extLst>
      <p:ext uri="{BB962C8B-B14F-4D97-AF65-F5344CB8AC3E}">
        <p14:creationId xmlns:p14="http://schemas.microsoft.com/office/powerpoint/2010/main" val="3372896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oup of people sitting in a lecture hall&#10;&#10;Description automatically generated">
            <a:extLst>
              <a:ext uri="{FF2B5EF4-FFF2-40B4-BE49-F238E27FC236}">
                <a16:creationId xmlns:a16="http://schemas.microsoft.com/office/drawing/2014/main" id="{3A6A42E8-7525-348D-34CC-59A4AEC16E88}"/>
              </a:ext>
            </a:extLst>
          </p:cNvPr>
          <p:cNvPicPr>
            <a:picLocks noChangeAspect="1"/>
          </p:cNvPicPr>
          <p:nvPr/>
        </p:nvPicPr>
        <p:blipFill>
          <a:blip r:embed="rId2"/>
          <a:srcRect t="15730"/>
          <a:stretch/>
        </p:blipFill>
        <p:spPr>
          <a:xfrm>
            <a:off x="20" y="-2"/>
            <a:ext cx="12191980" cy="6858000"/>
          </a:xfrm>
          <a:prstGeom prst="rect">
            <a:avLst/>
          </a:prstGeom>
        </p:spPr>
      </p:pic>
      <p:sp useBgFill="1">
        <p:nvSpPr>
          <p:cNvPr id="21" name="Rectangle: Top Corners Rounded 20">
            <a:extLst>
              <a:ext uri="{FF2B5EF4-FFF2-40B4-BE49-F238E27FC236}">
                <a16:creationId xmlns:a16="http://schemas.microsoft.com/office/drawing/2014/main" id="{A06622B5-0D3E-459F-977C-302B9D998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4314" y="195830"/>
            <a:ext cx="2932144" cy="3860771"/>
          </a:xfrm>
          <a:prstGeom prst="round2SameRect">
            <a:avLst>
              <a:gd name="adj1" fmla="val 4735"/>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white paper with red text&#10;&#10;Description automatically generated">
            <a:extLst>
              <a:ext uri="{FF2B5EF4-FFF2-40B4-BE49-F238E27FC236}">
                <a16:creationId xmlns:a16="http://schemas.microsoft.com/office/drawing/2014/main" id="{50EFA589-2FDF-4430-FAE4-C1C39DCE344D}"/>
              </a:ext>
            </a:extLst>
          </p:cNvPr>
          <p:cNvPicPr>
            <a:picLocks noChangeAspect="1"/>
          </p:cNvPicPr>
          <p:nvPr/>
        </p:nvPicPr>
        <p:blipFill>
          <a:blip r:embed="rId3"/>
          <a:srcRect t="3951" b="45786"/>
          <a:stretch/>
        </p:blipFill>
        <p:spPr>
          <a:xfrm>
            <a:off x="20" y="823196"/>
            <a:ext cx="3694156" cy="2606040"/>
          </a:xfrm>
          <a:custGeom>
            <a:avLst/>
            <a:gdLst/>
            <a:ahLst/>
            <a:cxnLst/>
            <a:rect l="l" t="t" r="r" b="b"/>
            <a:pathLst>
              <a:path w="3694176" h="2606040">
                <a:moveTo>
                  <a:pt x="0" y="0"/>
                </a:moveTo>
                <a:lnTo>
                  <a:pt x="3578728" y="0"/>
                </a:lnTo>
                <a:cubicBezTo>
                  <a:pt x="3642488" y="0"/>
                  <a:pt x="3694176" y="51688"/>
                  <a:pt x="3694176" y="115448"/>
                </a:cubicBezTo>
                <a:lnTo>
                  <a:pt x="3694176" y="2490592"/>
                </a:lnTo>
                <a:cubicBezTo>
                  <a:pt x="3694176" y="2554352"/>
                  <a:pt x="3642488" y="2606040"/>
                  <a:pt x="3578728" y="2606040"/>
                </a:cubicBezTo>
                <a:lnTo>
                  <a:pt x="0" y="2606040"/>
                </a:lnTo>
                <a:close/>
              </a:path>
            </a:pathLst>
          </a:custGeom>
        </p:spPr>
      </p:pic>
      <p:sp useBgFill="1">
        <p:nvSpPr>
          <p:cNvPr id="16" name="Rectangle: Top Corners Rounded 15">
            <a:extLst>
              <a:ext uri="{FF2B5EF4-FFF2-40B4-BE49-F238E27FC236}">
                <a16:creationId xmlns:a16="http://schemas.microsoft.com/office/drawing/2014/main" id="{B22EB6A2-EE25-4D0A-B8F7-560339BF7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157157" y="-1"/>
            <a:ext cx="4332545" cy="3130998"/>
          </a:xfrm>
          <a:prstGeom prst="round2SameRect">
            <a:avLst>
              <a:gd name="adj1" fmla="val 3211"/>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2CCCEEC-FB2E-0C19-C39B-53C766EB0A9D}"/>
              </a:ext>
            </a:extLst>
          </p:cNvPr>
          <p:cNvPicPr>
            <a:picLocks noChangeAspect="1"/>
          </p:cNvPicPr>
          <p:nvPr/>
        </p:nvPicPr>
        <p:blipFill>
          <a:blip r:embed="rId4"/>
          <a:srcRect l="8242" r="11322" b="-1"/>
          <a:stretch/>
        </p:blipFill>
        <p:spPr>
          <a:xfrm>
            <a:off x="4320893" y="1"/>
            <a:ext cx="4005072" cy="2962656"/>
          </a:xfrm>
          <a:custGeom>
            <a:avLst/>
            <a:gdLst/>
            <a:ahLst/>
            <a:cxnLst/>
            <a:rect l="l" t="t" r="r" b="b"/>
            <a:pathLst>
              <a:path w="4005072" h="2962656">
                <a:moveTo>
                  <a:pt x="0" y="0"/>
                </a:moveTo>
                <a:lnTo>
                  <a:pt x="4005072" y="0"/>
                </a:lnTo>
                <a:lnTo>
                  <a:pt x="4005072" y="2867525"/>
                </a:lnTo>
                <a:cubicBezTo>
                  <a:pt x="4005072" y="2920064"/>
                  <a:pt x="3962480" y="2962656"/>
                  <a:pt x="3909941" y="2962656"/>
                </a:cubicBezTo>
                <a:lnTo>
                  <a:pt x="95131" y="2962656"/>
                </a:lnTo>
                <a:cubicBezTo>
                  <a:pt x="42592" y="2962656"/>
                  <a:pt x="0" y="2920064"/>
                  <a:pt x="0" y="2867525"/>
                </a:cubicBezTo>
                <a:close/>
              </a:path>
            </a:pathLst>
          </a:custGeom>
        </p:spPr>
      </p:pic>
      <p:sp useBgFill="1">
        <p:nvSpPr>
          <p:cNvPr id="22" name="Rectangle: Top Corners Rounded 21">
            <a:extLst>
              <a:ext uri="{FF2B5EF4-FFF2-40B4-BE49-F238E27FC236}">
                <a16:creationId xmlns:a16="http://schemas.microsoft.com/office/drawing/2014/main" id="{03EE06E7-68E3-478C-8B9B-551876F1B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57692" y="1480693"/>
            <a:ext cx="5054856" cy="3413760"/>
          </a:xfrm>
          <a:prstGeom prst="round2SameRect">
            <a:avLst>
              <a:gd name="adj1" fmla="val 3803"/>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sitting in a chair next to another person&#10;&#10;Description automatically generated">
            <a:extLst>
              <a:ext uri="{FF2B5EF4-FFF2-40B4-BE49-F238E27FC236}">
                <a16:creationId xmlns:a16="http://schemas.microsoft.com/office/drawing/2014/main" id="{C60D2ADC-F758-6398-945B-85CABDEBC319}"/>
              </a:ext>
            </a:extLst>
          </p:cNvPr>
          <p:cNvPicPr>
            <a:picLocks noChangeAspect="1"/>
          </p:cNvPicPr>
          <p:nvPr/>
        </p:nvPicPr>
        <p:blipFill>
          <a:blip r:embed="rId5"/>
          <a:srcRect l="28453" r="25198"/>
          <a:stretch/>
        </p:blipFill>
        <p:spPr>
          <a:xfrm>
            <a:off x="8945880" y="823849"/>
            <a:ext cx="3246120" cy="4727448"/>
          </a:xfrm>
          <a:custGeom>
            <a:avLst/>
            <a:gdLst/>
            <a:ahLst/>
            <a:cxnLst/>
            <a:rect l="l" t="t" r="r" b="b"/>
            <a:pathLst>
              <a:path w="3246120" h="4727448">
                <a:moveTo>
                  <a:pt x="75732" y="0"/>
                </a:moveTo>
                <a:lnTo>
                  <a:pt x="3246120" y="0"/>
                </a:lnTo>
                <a:lnTo>
                  <a:pt x="3246120" y="4727448"/>
                </a:lnTo>
                <a:lnTo>
                  <a:pt x="75732" y="4727448"/>
                </a:lnTo>
                <a:cubicBezTo>
                  <a:pt x="33906" y="4727448"/>
                  <a:pt x="0" y="4693542"/>
                  <a:pt x="0" y="4651716"/>
                </a:cubicBezTo>
                <a:lnTo>
                  <a:pt x="0" y="75732"/>
                </a:lnTo>
                <a:cubicBezTo>
                  <a:pt x="0" y="33906"/>
                  <a:pt x="33906" y="0"/>
                  <a:pt x="75732" y="0"/>
                </a:cubicBezTo>
                <a:close/>
              </a:path>
            </a:pathLst>
          </a:custGeom>
        </p:spPr>
      </p:pic>
    </p:spTree>
    <p:extLst>
      <p:ext uri="{BB962C8B-B14F-4D97-AF65-F5344CB8AC3E}">
        <p14:creationId xmlns:p14="http://schemas.microsoft.com/office/powerpoint/2010/main" val="2185606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CCC3DD-FE74-E7C2-7286-777D6787210D}"/>
              </a:ext>
            </a:extLst>
          </p:cNvPr>
          <p:cNvPicPr>
            <a:picLocks noChangeAspect="1"/>
          </p:cNvPicPr>
          <p:nvPr/>
        </p:nvPicPr>
        <p:blipFill>
          <a:blip r:embed="rId2"/>
          <a:stretch>
            <a:fillRect/>
          </a:stretch>
        </p:blipFill>
        <p:spPr>
          <a:xfrm>
            <a:off x="135284" y="112206"/>
            <a:ext cx="5779133" cy="3717507"/>
          </a:xfrm>
          <a:prstGeom prst="rect">
            <a:avLst/>
          </a:prstGeom>
        </p:spPr>
      </p:pic>
      <p:pic>
        <p:nvPicPr>
          <p:cNvPr id="7" name="Picture 6">
            <a:extLst>
              <a:ext uri="{FF2B5EF4-FFF2-40B4-BE49-F238E27FC236}">
                <a16:creationId xmlns:a16="http://schemas.microsoft.com/office/drawing/2014/main" id="{87DA254C-C2AC-8F53-B2C2-AA0C918ED78E}"/>
              </a:ext>
            </a:extLst>
          </p:cNvPr>
          <p:cNvPicPr>
            <a:picLocks noChangeAspect="1"/>
          </p:cNvPicPr>
          <p:nvPr/>
        </p:nvPicPr>
        <p:blipFill>
          <a:blip r:embed="rId3"/>
          <a:stretch>
            <a:fillRect/>
          </a:stretch>
        </p:blipFill>
        <p:spPr>
          <a:xfrm>
            <a:off x="5048655" y="2066478"/>
            <a:ext cx="6932985" cy="4791522"/>
          </a:xfrm>
          <a:prstGeom prst="rect">
            <a:avLst/>
          </a:prstGeom>
        </p:spPr>
      </p:pic>
    </p:spTree>
    <p:extLst>
      <p:ext uri="{BB962C8B-B14F-4D97-AF65-F5344CB8AC3E}">
        <p14:creationId xmlns:p14="http://schemas.microsoft.com/office/powerpoint/2010/main" val="1306506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E37A21652629468EB5370F47C85BA4" ma:contentTypeVersion="15" ma:contentTypeDescription="Create a new document." ma:contentTypeScope="" ma:versionID="75573faa63fb38a489f5af5945e73d40">
  <xsd:schema xmlns:xsd="http://www.w3.org/2001/XMLSchema" xmlns:xs="http://www.w3.org/2001/XMLSchema" xmlns:p="http://schemas.microsoft.com/office/2006/metadata/properties" xmlns:ns3="b08d0861-2a0b-4b16-bbde-53a01a52cdf3" xmlns:ns4="cd61c925-776f-4a86-a5a3-80189300057c" targetNamespace="http://schemas.microsoft.com/office/2006/metadata/properties" ma:root="true" ma:fieldsID="6a55b147fe9ce80ad562e6ff084cca09" ns3:_="" ns4:_="">
    <xsd:import namespace="b08d0861-2a0b-4b16-bbde-53a01a52cdf3"/>
    <xsd:import namespace="cd61c925-776f-4a86-a5a3-80189300057c"/>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Locatio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8d0861-2a0b-4b16-bbde-53a01a52cd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61c925-776f-4a86-a5a3-80189300057c"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08d0861-2a0b-4b16-bbde-53a01a52cdf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5B7D50-FCC4-497F-A57E-BE3213F972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08d0861-2a0b-4b16-bbde-53a01a52cdf3"/>
    <ds:schemaRef ds:uri="cd61c925-776f-4a86-a5a3-8018930005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7C190D-60B4-4C8F-8EEC-D12564E31BFC}">
  <ds:schemaRefs>
    <ds:schemaRef ds:uri="http://schemas.microsoft.com/office/2006/documentManagement/types"/>
    <ds:schemaRef ds:uri="http://purl.org/dc/elements/1.1/"/>
    <ds:schemaRef ds:uri="http://purl.org/dc/dcmitype/"/>
    <ds:schemaRef ds:uri="http://schemas.microsoft.com/office/2006/metadata/properties"/>
    <ds:schemaRef ds:uri="http://purl.org/dc/terms/"/>
    <ds:schemaRef ds:uri="cd61c925-776f-4a86-a5a3-80189300057c"/>
    <ds:schemaRef ds:uri="http://schemas.microsoft.com/office/infopath/2007/PartnerControls"/>
    <ds:schemaRef ds:uri="http://schemas.openxmlformats.org/package/2006/metadata/core-properties"/>
    <ds:schemaRef ds:uri="b08d0861-2a0b-4b16-bbde-53a01a52cdf3"/>
    <ds:schemaRef ds:uri="http://www.w3.org/XML/1998/namespace"/>
  </ds:schemaRefs>
</ds:datastoreItem>
</file>

<file path=customXml/itemProps3.xml><?xml version="1.0" encoding="utf-8"?>
<ds:datastoreItem xmlns:ds="http://schemas.openxmlformats.org/officeDocument/2006/customXml" ds:itemID="{4BA1D8FF-3118-49EA-8D1E-8967090851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285</TotalTime>
  <Words>569</Words>
  <Application>Microsoft Office PowerPoint</Application>
  <PresentationFormat>Widescreen</PresentationFormat>
  <Paragraphs>43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Google Sans</vt:lpstr>
      <vt:lpstr>Office Theme</vt:lpstr>
      <vt:lpstr>Proposal  Speaker – Agile Networks India </vt:lpstr>
      <vt:lpstr> The AI-Augmented Product Delivery Loop: Using Prompt Engineering &amp; RAG for Accelerated Dev and Delivery</vt:lpstr>
      <vt:lpstr>Key Takeaways</vt:lpstr>
      <vt:lpstr>PowerPoint Presentation</vt:lpstr>
      <vt:lpstr>Manish K Agarwal https://www.linkedin.com/in/manishkagarwal/ Sr. Director Technical Operation – Infinera India Pvt Ltd, Bengaluru 560025</vt:lpstr>
      <vt:lpstr>Business driven AI</vt:lpstr>
      <vt:lpstr>Education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Manish K Agarwal Director Technical Operation – Infinera India</dc:title>
  <dc:creator>Manish Agarwal</dc:creator>
  <cp:lastModifiedBy>Manish Agarwal (Nokia)</cp:lastModifiedBy>
  <cp:revision>29</cp:revision>
  <dcterms:created xsi:type="dcterms:W3CDTF">2023-01-09T08:21:36Z</dcterms:created>
  <dcterms:modified xsi:type="dcterms:W3CDTF">2026-01-05T07:51:56Z</dcterms:modified>
</cp:coreProperties>
</file>